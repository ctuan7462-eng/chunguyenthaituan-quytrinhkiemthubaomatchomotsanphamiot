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3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 le dat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Phần cứng</c:v>
                </c:pt>
                <c:pt idx="1">
                  <c:v>Firmware</c:v>
                </c:pt>
                <c:pt idx="2">
                  <c:v>Mang</c:v>
                </c:pt>
                <c:pt idx="3">
                  <c:v>API/Cloud</c:v>
                </c:pt>
                <c:pt idx="4">
                  <c:v>Mobile App</c:v>
                </c:pt>
                <c:pt idx="5">
                  <c:v>Update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50</c:v>
                </c:pt>
                <c:pt idx="4">
                  <c:v>33</c:v>
                </c:pt>
                <c:pt idx="5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BD-437B-863E-9039454907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075D7B-71FA-4D3A-B951-BDFE1403F53B}" type="doc">
      <dgm:prSet loTypeId="urn:microsoft.com/office/officeart/2005/8/layout/architecture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A78D6F4-8F16-4B5F-9B66-A1F79B940728}">
      <dgm:prSet phldrT="[Text]" custT="1"/>
      <dgm:spPr/>
      <dgm:t>
        <a:bodyPr/>
        <a:lstStyle/>
        <a:p>
          <a:pPr algn="just"/>
          <a:r>
            <a:rPr lang="vi-VN" sz="1400" dirty="0"/>
            <a:t>- Camera IP gia đình ngày càng phổ biến nhưng thiếu quy trình kiểm thử bỏ mật chuẩn hóa trước triển khai.</a:t>
          </a:r>
        </a:p>
        <a:p>
          <a:pPr algn="just"/>
          <a:r>
            <a:rPr lang="vi-VN" sz="1400" dirty="0"/>
            <a:t>- Lỗi cơ bản (Mật khẩu mặc định, không mã hóa, update không xác thực) tồn tại lâu không bị phát hiện.</a:t>
          </a:r>
        </a:p>
        <a:p>
          <a:pPr algn="just"/>
          <a:r>
            <a:rPr lang="vi-VN" sz="1400" dirty="0"/>
            <a:t>- Hậu quả: camera bị chiếm quyền , rò rỉ hình ảnh riêng tư, trở thành  một phần của botnet IoT.</a:t>
          </a:r>
        </a:p>
        <a:p>
          <a:pPr algn="just"/>
          <a:r>
            <a:rPr lang="vi-VN" sz="1400" dirty="0"/>
            <a:t>- Cần một quy trình bao phủ đầy đủ: phần cứng, firmware, mạng, API/Cloud, app, cơ chế cập nhật.</a:t>
          </a:r>
        </a:p>
      </dgm:t>
    </dgm:pt>
    <dgm:pt modelId="{8C55684A-4A15-42A5-87DD-C26F2B1E8B5B}" type="parTrans" cxnId="{9F8D27DE-918F-4DA8-B800-1D897E21BCCA}">
      <dgm:prSet/>
      <dgm:spPr/>
      <dgm:t>
        <a:bodyPr/>
        <a:lstStyle/>
        <a:p>
          <a:endParaRPr lang="en-US"/>
        </a:p>
      </dgm:t>
    </dgm:pt>
    <dgm:pt modelId="{7B5957AE-EF34-4734-9790-2142C99898D3}" type="sibTrans" cxnId="{9F8D27DE-918F-4DA8-B800-1D897E21BCCA}">
      <dgm:prSet/>
      <dgm:spPr/>
      <dgm:t>
        <a:bodyPr/>
        <a:lstStyle/>
        <a:p>
          <a:endParaRPr lang="en-US"/>
        </a:p>
      </dgm:t>
    </dgm:pt>
    <dgm:pt modelId="{60607580-4CA1-429C-B9F4-6AC13C9C0F86}">
      <dgm:prSet phldrT="[Text]" custT="1"/>
      <dgm:spPr/>
      <dgm:t>
        <a:bodyPr/>
        <a:lstStyle/>
        <a:p>
          <a:pPr algn="just">
            <a:buNone/>
          </a:pPr>
          <a:r>
            <a:rPr lang="vi-VN" sz="14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1. Xây dựng quy trình kiểm thử 8 bước dựa trên OWASP ISTG</a:t>
          </a:r>
        </a:p>
        <a:p>
          <a:pPr algn="just">
            <a:buNone/>
          </a:pPr>
          <a:r>
            <a:rPr lang="vi-VN" sz="14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2. </a:t>
          </a:r>
          <a:r>
            <a:rPr lang="vi-VN" sz="14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Lập checklist 25 tiêu chí ánh xạ với OWASP ISVS</a:t>
          </a:r>
        </a:p>
        <a:p>
          <a:pPr algn="just">
            <a:buNone/>
          </a:pPr>
          <a:r>
            <a:rPr lang="vi-VN" sz="14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3.</a:t>
          </a:r>
          <a:r>
            <a:rPr lang="vi-VN" sz="14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 Xây dựng mẫu báo cáo phát hiện lỗ hổng tái sử dụng được</a:t>
          </a:r>
        </a:p>
        <a:p>
          <a:pPr algn="just">
            <a:buNone/>
          </a:pPr>
          <a:r>
            <a:rPr lang="vi-VN" sz="14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4. </a:t>
          </a:r>
          <a:r>
            <a:rPr lang="vi-VN" sz="14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Áp dụng thử quy trình lên camera IP gia đình</a:t>
          </a:r>
        </a:p>
        <a:p>
          <a:pPr algn="just">
            <a:buNone/>
          </a:pPr>
          <a:r>
            <a:rPr lang="vi-VN" sz="14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5. </a:t>
          </a:r>
          <a:r>
            <a:rPr lang="vi-VN" sz="14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Xây dựng ma trận rủi ro và thứ tự ưu tiên xử lý</a:t>
          </a:r>
        </a:p>
        <a:p>
          <a:pPr algn="just">
            <a:buNone/>
          </a:pPr>
          <a:r>
            <a:rPr lang="vi-VN" sz="14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6. </a:t>
          </a:r>
          <a:r>
            <a:rPr lang="vi-VN" sz="14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Viết script Python tự động sinh báo cáo từ checklist</a:t>
          </a:r>
          <a:endParaRPr lang="en-US" sz="1400" dirty="0">
            <a:solidFill>
              <a:schemeClr val="tx1"/>
            </a:solidFill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0A18292-AFC1-43EE-995B-9D6C54DD1AC1}" type="parTrans" cxnId="{5F5BD95D-479C-4229-B0B6-B90E9450BE1C}">
      <dgm:prSet/>
      <dgm:spPr/>
      <dgm:t>
        <a:bodyPr/>
        <a:lstStyle/>
        <a:p>
          <a:endParaRPr lang="en-US"/>
        </a:p>
      </dgm:t>
    </dgm:pt>
    <dgm:pt modelId="{679322D3-1405-43C2-BA5F-76A46D8B385D}" type="sibTrans" cxnId="{5F5BD95D-479C-4229-B0B6-B90E9450BE1C}">
      <dgm:prSet/>
      <dgm:spPr/>
      <dgm:t>
        <a:bodyPr/>
        <a:lstStyle/>
        <a:p>
          <a:endParaRPr lang="en-US"/>
        </a:p>
      </dgm:t>
    </dgm:pt>
    <dgm:pt modelId="{29AB678B-7F2E-4163-B0D2-E335FE1167CB}" type="pres">
      <dgm:prSet presAssocID="{3B075D7B-71FA-4D3A-B951-BDFE1403F53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40662F-C4F8-4076-BEC1-EF8D74FB79C5}" type="pres">
      <dgm:prSet presAssocID="{EA78D6F4-8F16-4B5F-9B66-A1F79B940728}" presName="vertOne" presStyleCnt="0"/>
      <dgm:spPr/>
    </dgm:pt>
    <dgm:pt modelId="{9023BE2E-93D1-4852-AB4E-DE0B0A0724DE}" type="pres">
      <dgm:prSet presAssocID="{EA78D6F4-8F16-4B5F-9B66-A1F79B940728}" presName="txOne" presStyleLbl="node0" presStyleIdx="0" presStyleCnt="2">
        <dgm:presLayoutVars>
          <dgm:chPref val="3"/>
        </dgm:presLayoutVars>
      </dgm:prSet>
      <dgm:spPr/>
    </dgm:pt>
    <dgm:pt modelId="{41B1E572-BC04-4129-99D2-E1A6DB32C126}" type="pres">
      <dgm:prSet presAssocID="{EA78D6F4-8F16-4B5F-9B66-A1F79B940728}" presName="horzOne" presStyleCnt="0"/>
      <dgm:spPr/>
    </dgm:pt>
    <dgm:pt modelId="{B27B868D-6D65-4ABE-A69F-7C80069245C1}" type="pres">
      <dgm:prSet presAssocID="{7B5957AE-EF34-4734-9790-2142C99898D3}" presName="sibSpaceOne" presStyleCnt="0"/>
      <dgm:spPr/>
    </dgm:pt>
    <dgm:pt modelId="{C6E42E43-976F-4584-9118-23F22BEA6D4A}" type="pres">
      <dgm:prSet presAssocID="{60607580-4CA1-429C-B9F4-6AC13C9C0F86}" presName="vertOne" presStyleCnt="0"/>
      <dgm:spPr/>
    </dgm:pt>
    <dgm:pt modelId="{2FE95D21-968F-4DB1-BA16-99CFE4B060BA}" type="pres">
      <dgm:prSet presAssocID="{60607580-4CA1-429C-B9F4-6AC13C9C0F86}" presName="txOne" presStyleLbl="node0" presStyleIdx="1" presStyleCnt="2">
        <dgm:presLayoutVars>
          <dgm:chPref val="3"/>
        </dgm:presLayoutVars>
      </dgm:prSet>
      <dgm:spPr/>
    </dgm:pt>
    <dgm:pt modelId="{99811487-0DC9-4E79-B550-9506B45E6998}" type="pres">
      <dgm:prSet presAssocID="{60607580-4CA1-429C-B9F4-6AC13C9C0F86}" presName="horzOne" presStyleCnt="0"/>
      <dgm:spPr/>
    </dgm:pt>
  </dgm:ptLst>
  <dgm:cxnLst>
    <dgm:cxn modelId="{5F5BD95D-479C-4229-B0B6-B90E9450BE1C}" srcId="{3B075D7B-71FA-4D3A-B951-BDFE1403F53B}" destId="{60607580-4CA1-429C-B9F4-6AC13C9C0F86}" srcOrd="1" destOrd="0" parTransId="{40A18292-AFC1-43EE-995B-9D6C54DD1AC1}" sibTransId="{679322D3-1405-43C2-BA5F-76A46D8B385D}"/>
    <dgm:cxn modelId="{703817B6-FA2A-48A3-906D-373F6C5D2F65}" type="presOf" srcId="{60607580-4CA1-429C-B9F4-6AC13C9C0F86}" destId="{2FE95D21-968F-4DB1-BA16-99CFE4B060BA}" srcOrd="0" destOrd="0" presId="urn:microsoft.com/office/officeart/2005/8/layout/architecture"/>
    <dgm:cxn modelId="{9F8D27DE-918F-4DA8-B800-1D897E21BCCA}" srcId="{3B075D7B-71FA-4D3A-B951-BDFE1403F53B}" destId="{EA78D6F4-8F16-4B5F-9B66-A1F79B940728}" srcOrd="0" destOrd="0" parTransId="{8C55684A-4A15-42A5-87DD-C26F2B1E8B5B}" sibTransId="{7B5957AE-EF34-4734-9790-2142C99898D3}"/>
    <dgm:cxn modelId="{154388E7-B1CA-44F3-AC7A-A7EBEEC8F968}" type="presOf" srcId="{3B075D7B-71FA-4D3A-B951-BDFE1403F53B}" destId="{29AB678B-7F2E-4163-B0D2-E335FE1167CB}" srcOrd="0" destOrd="0" presId="urn:microsoft.com/office/officeart/2005/8/layout/architecture"/>
    <dgm:cxn modelId="{E8BC92EE-5654-42BA-8D37-937E6819612A}" type="presOf" srcId="{EA78D6F4-8F16-4B5F-9B66-A1F79B940728}" destId="{9023BE2E-93D1-4852-AB4E-DE0B0A0724DE}" srcOrd="0" destOrd="0" presId="urn:microsoft.com/office/officeart/2005/8/layout/architecture"/>
    <dgm:cxn modelId="{FD957C15-E663-42E0-A65A-0FCD2DE801D1}" type="presParOf" srcId="{29AB678B-7F2E-4163-B0D2-E335FE1167CB}" destId="{C240662F-C4F8-4076-BEC1-EF8D74FB79C5}" srcOrd="0" destOrd="0" presId="urn:microsoft.com/office/officeart/2005/8/layout/architecture"/>
    <dgm:cxn modelId="{243E0CFD-869B-4699-A82D-95DBC5EEB8CD}" type="presParOf" srcId="{C240662F-C4F8-4076-BEC1-EF8D74FB79C5}" destId="{9023BE2E-93D1-4852-AB4E-DE0B0A0724DE}" srcOrd="0" destOrd="0" presId="urn:microsoft.com/office/officeart/2005/8/layout/architecture"/>
    <dgm:cxn modelId="{B65E1FF0-D139-4E13-813D-553BE4A8D7E3}" type="presParOf" srcId="{C240662F-C4F8-4076-BEC1-EF8D74FB79C5}" destId="{41B1E572-BC04-4129-99D2-E1A6DB32C126}" srcOrd="1" destOrd="0" presId="urn:microsoft.com/office/officeart/2005/8/layout/architecture"/>
    <dgm:cxn modelId="{E9EFA5A6-8602-4026-8C95-6782C1E56914}" type="presParOf" srcId="{29AB678B-7F2E-4163-B0D2-E335FE1167CB}" destId="{B27B868D-6D65-4ABE-A69F-7C80069245C1}" srcOrd="1" destOrd="0" presId="urn:microsoft.com/office/officeart/2005/8/layout/architecture"/>
    <dgm:cxn modelId="{8074FFCB-65EB-4AA8-8C21-53F0C62428AA}" type="presParOf" srcId="{29AB678B-7F2E-4163-B0D2-E335FE1167CB}" destId="{C6E42E43-976F-4584-9118-23F22BEA6D4A}" srcOrd="2" destOrd="0" presId="urn:microsoft.com/office/officeart/2005/8/layout/architecture"/>
    <dgm:cxn modelId="{3A61CFB3-A00D-456B-A82D-DEDE93CA5FAE}" type="presParOf" srcId="{C6E42E43-976F-4584-9118-23F22BEA6D4A}" destId="{2FE95D21-968F-4DB1-BA16-99CFE4B060BA}" srcOrd="0" destOrd="0" presId="urn:microsoft.com/office/officeart/2005/8/layout/architecture"/>
    <dgm:cxn modelId="{DE1C0B3D-790B-48C1-803E-7FEE503031B4}" type="presParOf" srcId="{C6E42E43-976F-4584-9118-23F22BEA6D4A}" destId="{99811487-0DC9-4E79-B550-9506B45E6998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51E0C-3612-4364-BBD4-EBEF97BEF3C0}" type="doc">
      <dgm:prSet loTypeId="urn:microsoft.com/office/officeart/2005/8/layout/hProcess7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vi-VN"/>
        </a:p>
      </dgm:t>
    </dgm:pt>
    <dgm:pt modelId="{B2459380-C9E8-4DF2-800B-1FB6D7931366}">
      <dgm:prSet phldrT="[Text]"/>
      <dgm:spPr/>
      <dgm:t>
        <a:bodyPr/>
        <a:lstStyle/>
        <a:p>
          <a:pPr>
            <a:buNone/>
          </a:pPr>
          <a:r>
            <a:rPr lang="vi-VN" b="1" noProof="1">
              <a:latin typeface="+mj-lt"/>
              <a:ea typeface="Calibri" pitchFamily="34" charset="-122"/>
              <a:cs typeface="Calibri" pitchFamily="34" charset="-120"/>
            </a:rPr>
            <a:t>OWASP ISTG</a:t>
          </a:r>
          <a:endParaRPr lang="vi-VN" dirty="0">
            <a:latin typeface="+mj-lt"/>
          </a:endParaRPr>
        </a:p>
      </dgm:t>
    </dgm:pt>
    <dgm:pt modelId="{4089D987-32D2-4B54-B826-A30D5CF69725}" type="parTrans" cxnId="{2E73966A-822A-41E2-9EE6-B25319D02EC3}">
      <dgm:prSet/>
      <dgm:spPr/>
      <dgm:t>
        <a:bodyPr/>
        <a:lstStyle/>
        <a:p>
          <a:endParaRPr lang="vi-VN"/>
        </a:p>
      </dgm:t>
    </dgm:pt>
    <dgm:pt modelId="{4FEE5A1F-0789-40D4-9FBB-94351153F6A6}" type="sibTrans" cxnId="{2E73966A-822A-41E2-9EE6-B25319D02EC3}">
      <dgm:prSet/>
      <dgm:spPr/>
      <dgm:t>
        <a:bodyPr/>
        <a:lstStyle/>
        <a:p>
          <a:endParaRPr lang="vi-VN"/>
        </a:p>
      </dgm:t>
    </dgm:pt>
    <dgm:pt modelId="{347CBAE4-C6F0-4FC1-99D1-7E0EB6913A0C}">
      <dgm:prSet phldrT="[Text]" custT="1"/>
      <dgm:spPr/>
      <dgm:t>
        <a:bodyPr/>
        <a:lstStyle/>
        <a:p>
          <a:pPr>
            <a:buNone/>
          </a:pPr>
          <a:r>
            <a:rPr lang="vi-VN" sz="2000" noProof="1">
              <a:latin typeface="+mn-lt"/>
              <a:ea typeface="Calibri" pitchFamily="34" charset="-122"/>
              <a:cs typeface="Calibri" pitchFamily="34" charset="-120"/>
            </a:rPr>
            <a:t>Phương pháp luận kiểm thử bảo mật IoT - khung sườn cho quy trình 8 bước.</a:t>
          </a:r>
          <a:endParaRPr lang="vi-VN" sz="2000" dirty="0">
            <a:latin typeface="+mn-lt"/>
          </a:endParaRPr>
        </a:p>
      </dgm:t>
    </dgm:pt>
    <dgm:pt modelId="{DC554797-CAA4-4506-A788-268F538AEFD5}" type="parTrans" cxnId="{0F40DAE8-5A4C-4A55-BE4F-C216815CA1AD}">
      <dgm:prSet/>
      <dgm:spPr/>
      <dgm:t>
        <a:bodyPr/>
        <a:lstStyle/>
        <a:p>
          <a:endParaRPr lang="vi-VN"/>
        </a:p>
      </dgm:t>
    </dgm:pt>
    <dgm:pt modelId="{5646F80D-76CE-445B-9C14-006D7223076B}" type="sibTrans" cxnId="{0F40DAE8-5A4C-4A55-BE4F-C216815CA1AD}">
      <dgm:prSet/>
      <dgm:spPr/>
      <dgm:t>
        <a:bodyPr/>
        <a:lstStyle/>
        <a:p>
          <a:endParaRPr lang="vi-VN"/>
        </a:p>
      </dgm:t>
    </dgm:pt>
    <dgm:pt modelId="{B2A9BF1B-D5CC-40D9-A528-EDD8839BE239}">
      <dgm:prSet phldrT="[Text]"/>
      <dgm:spPr/>
      <dgm:t>
        <a:bodyPr/>
        <a:lstStyle/>
        <a:p>
          <a:pPr>
            <a:buNone/>
          </a:pPr>
          <a:r>
            <a:rPr lang="vi-VN" b="1" noProof="1">
              <a:latin typeface="+mj-lt"/>
              <a:ea typeface="Calibri" pitchFamily="34" charset="-122"/>
              <a:cs typeface="Calibri" pitchFamily="34" charset="-120"/>
            </a:rPr>
            <a:t>OWASP ISVS</a:t>
          </a:r>
          <a:endParaRPr lang="vi-VN" dirty="0">
            <a:latin typeface="+mj-lt"/>
          </a:endParaRPr>
        </a:p>
      </dgm:t>
    </dgm:pt>
    <dgm:pt modelId="{EB6E3D35-AE3F-47F2-B096-2897B6C7702E}" type="parTrans" cxnId="{D8509AA2-00EE-483B-8F10-3E63911B57B9}">
      <dgm:prSet/>
      <dgm:spPr/>
      <dgm:t>
        <a:bodyPr/>
        <a:lstStyle/>
        <a:p>
          <a:endParaRPr lang="vi-VN"/>
        </a:p>
      </dgm:t>
    </dgm:pt>
    <dgm:pt modelId="{34A0BBE6-15BE-417B-9C34-7C23B15034E4}" type="sibTrans" cxnId="{D8509AA2-00EE-483B-8F10-3E63911B57B9}">
      <dgm:prSet/>
      <dgm:spPr/>
      <dgm:t>
        <a:bodyPr/>
        <a:lstStyle/>
        <a:p>
          <a:endParaRPr lang="vi-VN"/>
        </a:p>
      </dgm:t>
    </dgm:pt>
    <dgm:pt modelId="{FD3E4C97-5A4E-4A78-81FF-E9AD9715CCBB}">
      <dgm:prSet phldrT="[Text]" custT="1"/>
      <dgm:spPr/>
      <dgm:t>
        <a:bodyPr/>
        <a:lstStyle/>
        <a:p>
          <a:pPr>
            <a:buNone/>
          </a:pPr>
          <a:r>
            <a:rPr lang="vi-VN" sz="2000" noProof="1">
              <a:latin typeface="+mn-lt"/>
              <a:ea typeface="Calibri" pitchFamily="34" charset="-122"/>
              <a:cs typeface="Calibri" pitchFamily="34" charset="-120"/>
            </a:rPr>
            <a:t>Danh mục yêu cầu xác minh bảo mật - dùng để ánh xạ checklist.</a:t>
          </a:r>
          <a:endParaRPr lang="vi-VN" sz="2000" dirty="0">
            <a:latin typeface="+mn-lt"/>
          </a:endParaRPr>
        </a:p>
      </dgm:t>
    </dgm:pt>
    <dgm:pt modelId="{745E72D8-0D00-424C-8539-DADDE9A2995B}" type="parTrans" cxnId="{59EEC492-F57A-4926-B2A5-927256815E7D}">
      <dgm:prSet/>
      <dgm:spPr/>
      <dgm:t>
        <a:bodyPr/>
        <a:lstStyle/>
        <a:p>
          <a:endParaRPr lang="vi-VN"/>
        </a:p>
      </dgm:t>
    </dgm:pt>
    <dgm:pt modelId="{5EAFFB2E-B9C8-4596-A749-F291C402421E}" type="sibTrans" cxnId="{59EEC492-F57A-4926-B2A5-927256815E7D}">
      <dgm:prSet/>
      <dgm:spPr/>
      <dgm:t>
        <a:bodyPr/>
        <a:lstStyle/>
        <a:p>
          <a:endParaRPr lang="vi-VN"/>
        </a:p>
      </dgm:t>
    </dgm:pt>
    <dgm:pt modelId="{C492C6F0-BC4A-4FDD-83BA-FC6E5D78B719}">
      <dgm:prSet phldrT="[Text]"/>
      <dgm:spPr/>
      <dgm:t>
        <a:bodyPr/>
        <a:lstStyle/>
        <a:p>
          <a:pPr>
            <a:buNone/>
          </a:pPr>
          <a:r>
            <a:rPr lang="vi-VN" b="1" noProof="1">
              <a:latin typeface="+mj-lt"/>
              <a:ea typeface="Calibri" pitchFamily="34" charset="-122"/>
              <a:cs typeface="Calibri" pitchFamily="34" charset="-120"/>
            </a:rPr>
            <a:t>OWASP FSTM</a:t>
          </a:r>
          <a:endParaRPr lang="vi-VN" dirty="0">
            <a:latin typeface="+mj-lt"/>
          </a:endParaRPr>
        </a:p>
      </dgm:t>
    </dgm:pt>
    <dgm:pt modelId="{2C72B051-0BE6-4028-8796-1D6CC7422202}" type="parTrans" cxnId="{E8407043-86F7-4878-98BF-1FBB1437643D}">
      <dgm:prSet/>
      <dgm:spPr/>
      <dgm:t>
        <a:bodyPr/>
        <a:lstStyle/>
        <a:p>
          <a:endParaRPr lang="vi-VN"/>
        </a:p>
      </dgm:t>
    </dgm:pt>
    <dgm:pt modelId="{23488860-04FF-41C2-AF29-32AA98559B0D}" type="sibTrans" cxnId="{E8407043-86F7-4878-98BF-1FBB1437643D}">
      <dgm:prSet/>
      <dgm:spPr/>
      <dgm:t>
        <a:bodyPr/>
        <a:lstStyle/>
        <a:p>
          <a:endParaRPr lang="vi-VN"/>
        </a:p>
      </dgm:t>
    </dgm:pt>
    <dgm:pt modelId="{35533C7C-86B6-435D-9EB9-8B578CD46724}">
      <dgm:prSet phldrT="[Text]" custT="1"/>
      <dgm:spPr/>
      <dgm:t>
        <a:bodyPr/>
        <a:lstStyle/>
        <a:p>
          <a:r>
            <a:rPr lang="vi-VN" sz="2000" noProof="1">
              <a:latin typeface="+mn-lt"/>
              <a:ea typeface="Calibri" pitchFamily="34" charset="-122"/>
              <a:cs typeface="Calibri" pitchFamily="34" charset="-120"/>
            </a:rPr>
            <a:t>Quy trình phân tích firmware: thu thập, trích xuất, tìm secret hard-code.</a:t>
          </a:r>
          <a:endParaRPr lang="vi-VN" sz="2000" dirty="0">
            <a:latin typeface="+mn-lt"/>
          </a:endParaRPr>
        </a:p>
      </dgm:t>
    </dgm:pt>
    <dgm:pt modelId="{BA6F2AEE-C347-441D-9363-3920BD2A25AA}" type="parTrans" cxnId="{183B0980-BD35-429D-95C7-149B9B65B4E9}">
      <dgm:prSet/>
      <dgm:spPr/>
      <dgm:t>
        <a:bodyPr/>
        <a:lstStyle/>
        <a:p>
          <a:endParaRPr lang="vi-VN"/>
        </a:p>
      </dgm:t>
    </dgm:pt>
    <dgm:pt modelId="{B31BAA99-516B-4F2A-BD05-3AA879A55A9A}" type="sibTrans" cxnId="{183B0980-BD35-429D-95C7-149B9B65B4E9}">
      <dgm:prSet/>
      <dgm:spPr/>
      <dgm:t>
        <a:bodyPr/>
        <a:lstStyle/>
        <a:p>
          <a:endParaRPr lang="vi-VN"/>
        </a:p>
      </dgm:t>
    </dgm:pt>
    <dgm:pt modelId="{73809A6E-2D1C-4AA3-85F0-6CCB6107A54F}">
      <dgm:prSet phldrT="[Text]" phldr="0"/>
      <dgm:spPr/>
      <dgm:t>
        <a:bodyPr/>
        <a:lstStyle/>
        <a:p>
          <a:pPr>
            <a:buNone/>
          </a:pPr>
          <a:r>
            <a:rPr lang="vi-VN" b="1" noProof="1">
              <a:latin typeface="+mj-lt"/>
              <a:ea typeface="Calibri" pitchFamily="34" charset="-122"/>
              <a:cs typeface="Calibri" pitchFamily="34" charset="-120"/>
            </a:rPr>
            <a:t>OWASP IoTGoat</a:t>
          </a:r>
          <a:endParaRPr lang="vi-VN" dirty="0">
            <a:latin typeface="+mj-lt"/>
          </a:endParaRPr>
        </a:p>
      </dgm:t>
    </dgm:pt>
    <dgm:pt modelId="{75A90A75-CCAC-4333-A4AA-4BDB5DB6F09B}" type="parTrans" cxnId="{CF7721DC-36B2-4045-ACC0-69C8917F14C4}">
      <dgm:prSet/>
      <dgm:spPr/>
      <dgm:t>
        <a:bodyPr/>
        <a:lstStyle/>
        <a:p>
          <a:endParaRPr lang="vi-VN"/>
        </a:p>
      </dgm:t>
    </dgm:pt>
    <dgm:pt modelId="{950A4B64-EB30-4466-A9CB-D348C3516DBD}" type="sibTrans" cxnId="{CF7721DC-36B2-4045-ACC0-69C8917F14C4}">
      <dgm:prSet/>
      <dgm:spPr/>
      <dgm:t>
        <a:bodyPr/>
        <a:lstStyle/>
        <a:p>
          <a:endParaRPr lang="vi-VN"/>
        </a:p>
      </dgm:t>
    </dgm:pt>
    <dgm:pt modelId="{D1102C52-CD73-4921-8C4D-5E51AC68D6D2}">
      <dgm:prSet phldrT="[Text]" phldr="0" custT="1"/>
      <dgm:spPr/>
      <dgm:t>
        <a:bodyPr/>
        <a:lstStyle/>
        <a:p>
          <a:pPr>
            <a:buNone/>
          </a:pPr>
          <a:r>
            <a:rPr lang="vi-VN" sz="2000" noProof="1">
              <a:latin typeface="+mn-lt"/>
              <a:ea typeface="Calibri" pitchFamily="34" charset="-122"/>
              <a:cs typeface="Calibri" pitchFamily="34" charset="-120"/>
            </a:rPr>
            <a:t>Firmware co chu dich co lỗ hổng, dùng làm ví dụ minh họa học tập.</a:t>
          </a:r>
          <a:endParaRPr lang="vi-VN" sz="2000" dirty="0">
            <a:latin typeface="+mn-lt"/>
          </a:endParaRPr>
        </a:p>
      </dgm:t>
    </dgm:pt>
    <dgm:pt modelId="{38327A25-83E5-445B-AFC4-9884E5F2F0BB}" type="parTrans" cxnId="{EF244709-0F31-4B39-A73B-B4D15B6C5498}">
      <dgm:prSet/>
      <dgm:spPr/>
      <dgm:t>
        <a:bodyPr/>
        <a:lstStyle/>
        <a:p>
          <a:endParaRPr lang="vi-VN"/>
        </a:p>
      </dgm:t>
    </dgm:pt>
    <dgm:pt modelId="{FBB96E77-8437-4B73-9795-7E9C163B28EE}" type="sibTrans" cxnId="{EF244709-0F31-4B39-A73B-B4D15B6C5498}">
      <dgm:prSet/>
      <dgm:spPr/>
      <dgm:t>
        <a:bodyPr/>
        <a:lstStyle/>
        <a:p>
          <a:endParaRPr lang="vi-VN"/>
        </a:p>
      </dgm:t>
    </dgm:pt>
    <dgm:pt modelId="{AACB220B-F597-4D88-9CAC-DE3C59B8D302}" type="pres">
      <dgm:prSet presAssocID="{75E51E0C-3612-4364-BBD4-EBEF97BEF3C0}" presName="Name0" presStyleCnt="0">
        <dgm:presLayoutVars>
          <dgm:dir/>
          <dgm:animLvl val="lvl"/>
          <dgm:resizeHandles val="exact"/>
        </dgm:presLayoutVars>
      </dgm:prSet>
      <dgm:spPr/>
    </dgm:pt>
    <dgm:pt modelId="{08FAD448-84A5-4C88-BC30-9C5C4BB61655}" type="pres">
      <dgm:prSet presAssocID="{B2459380-C9E8-4DF2-800B-1FB6D7931366}" presName="compositeNode" presStyleCnt="0">
        <dgm:presLayoutVars>
          <dgm:bulletEnabled val="1"/>
        </dgm:presLayoutVars>
      </dgm:prSet>
      <dgm:spPr/>
    </dgm:pt>
    <dgm:pt modelId="{FEBB2E20-4643-42C1-9E30-199A6745A3E1}" type="pres">
      <dgm:prSet presAssocID="{B2459380-C9E8-4DF2-800B-1FB6D7931366}" presName="bgRect" presStyleLbl="node1" presStyleIdx="0" presStyleCnt="4"/>
      <dgm:spPr/>
    </dgm:pt>
    <dgm:pt modelId="{1158096B-EFCD-4D33-84BE-1EDFD132E329}" type="pres">
      <dgm:prSet presAssocID="{B2459380-C9E8-4DF2-800B-1FB6D7931366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9FDFC228-519D-4195-A066-3165DCEFAC23}" type="pres">
      <dgm:prSet presAssocID="{B2459380-C9E8-4DF2-800B-1FB6D7931366}" presName="childNode" presStyleLbl="node1" presStyleIdx="0" presStyleCnt="4">
        <dgm:presLayoutVars>
          <dgm:bulletEnabled val="1"/>
        </dgm:presLayoutVars>
      </dgm:prSet>
      <dgm:spPr/>
    </dgm:pt>
    <dgm:pt modelId="{DC611F4D-3987-4C19-B7D1-9B0ED2968E3B}" type="pres">
      <dgm:prSet presAssocID="{4FEE5A1F-0789-40D4-9FBB-94351153F6A6}" presName="hSp" presStyleCnt="0"/>
      <dgm:spPr/>
    </dgm:pt>
    <dgm:pt modelId="{D6262552-8560-42DB-834C-59CF908CB7E3}" type="pres">
      <dgm:prSet presAssocID="{4FEE5A1F-0789-40D4-9FBB-94351153F6A6}" presName="vProcSp" presStyleCnt="0"/>
      <dgm:spPr/>
    </dgm:pt>
    <dgm:pt modelId="{01A9BCC7-44B7-4355-B4A2-12839197145F}" type="pres">
      <dgm:prSet presAssocID="{4FEE5A1F-0789-40D4-9FBB-94351153F6A6}" presName="vSp1" presStyleCnt="0"/>
      <dgm:spPr/>
    </dgm:pt>
    <dgm:pt modelId="{AF625150-7000-42DE-88F1-02FE5D256A50}" type="pres">
      <dgm:prSet presAssocID="{4FEE5A1F-0789-40D4-9FBB-94351153F6A6}" presName="simulatedConn" presStyleLbl="solidFgAcc1" presStyleIdx="0" presStyleCnt="3"/>
      <dgm:spPr/>
    </dgm:pt>
    <dgm:pt modelId="{238A7A74-49A7-432F-8DD1-2E15F87253C8}" type="pres">
      <dgm:prSet presAssocID="{4FEE5A1F-0789-40D4-9FBB-94351153F6A6}" presName="vSp2" presStyleCnt="0"/>
      <dgm:spPr/>
    </dgm:pt>
    <dgm:pt modelId="{1806B1A7-CE87-4B12-B351-C3CC79A029A3}" type="pres">
      <dgm:prSet presAssocID="{4FEE5A1F-0789-40D4-9FBB-94351153F6A6}" presName="sibTrans" presStyleCnt="0"/>
      <dgm:spPr/>
    </dgm:pt>
    <dgm:pt modelId="{3F270178-58D8-4CE1-A35C-6E8F2CA119CD}" type="pres">
      <dgm:prSet presAssocID="{B2A9BF1B-D5CC-40D9-A528-EDD8839BE239}" presName="compositeNode" presStyleCnt="0">
        <dgm:presLayoutVars>
          <dgm:bulletEnabled val="1"/>
        </dgm:presLayoutVars>
      </dgm:prSet>
      <dgm:spPr/>
    </dgm:pt>
    <dgm:pt modelId="{EB40C17A-2570-448A-90FC-A55422B0C84F}" type="pres">
      <dgm:prSet presAssocID="{B2A9BF1B-D5CC-40D9-A528-EDD8839BE239}" presName="bgRect" presStyleLbl="node1" presStyleIdx="1" presStyleCnt="4"/>
      <dgm:spPr/>
    </dgm:pt>
    <dgm:pt modelId="{5D05630E-27E3-4686-A3C9-2EA04A53738F}" type="pres">
      <dgm:prSet presAssocID="{B2A9BF1B-D5CC-40D9-A528-EDD8839BE239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18940EF5-E3BD-4085-A831-0C178B2AF1A4}" type="pres">
      <dgm:prSet presAssocID="{B2A9BF1B-D5CC-40D9-A528-EDD8839BE239}" presName="childNode" presStyleLbl="node1" presStyleIdx="1" presStyleCnt="4">
        <dgm:presLayoutVars>
          <dgm:bulletEnabled val="1"/>
        </dgm:presLayoutVars>
      </dgm:prSet>
      <dgm:spPr/>
    </dgm:pt>
    <dgm:pt modelId="{79AAB583-0A1A-4FE3-B10D-8BF22AB6BF27}" type="pres">
      <dgm:prSet presAssocID="{34A0BBE6-15BE-417B-9C34-7C23B15034E4}" presName="hSp" presStyleCnt="0"/>
      <dgm:spPr/>
    </dgm:pt>
    <dgm:pt modelId="{6F16D7AF-C180-400A-ABD1-BB4EF90B608F}" type="pres">
      <dgm:prSet presAssocID="{34A0BBE6-15BE-417B-9C34-7C23B15034E4}" presName="vProcSp" presStyleCnt="0"/>
      <dgm:spPr/>
    </dgm:pt>
    <dgm:pt modelId="{A89C9E16-82B5-422E-ADC6-287E4963EFC3}" type="pres">
      <dgm:prSet presAssocID="{34A0BBE6-15BE-417B-9C34-7C23B15034E4}" presName="vSp1" presStyleCnt="0"/>
      <dgm:spPr/>
    </dgm:pt>
    <dgm:pt modelId="{1299ACC6-527B-474A-99BC-BA3167D27769}" type="pres">
      <dgm:prSet presAssocID="{34A0BBE6-15BE-417B-9C34-7C23B15034E4}" presName="simulatedConn" presStyleLbl="solidFgAcc1" presStyleIdx="1" presStyleCnt="3"/>
      <dgm:spPr/>
    </dgm:pt>
    <dgm:pt modelId="{0999FAFB-655C-4002-9909-85B666745820}" type="pres">
      <dgm:prSet presAssocID="{34A0BBE6-15BE-417B-9C34-7C23B15034E4}" presName="vSp2" presStyleCnt="0"/>
      <dgm:spPr/>
    </dgm:pt>
    <dgm:pt modelId="{DF02336E-74AF-4DFD-BDD9-033B581347AF}" type="pres">
      <dgm:prSet presAssocID="{34A0BBE6-15BE-417B-9C34-7C23B15034E4}" presName="sibTrans" presStyleCnt="0"/>
      <dgm:spPr/>
    </dgm:pt>
    <dgm:pt modelId="{88622662-C344-431C-AAF6-81D2B303075F}" type="pres">
      <dgm:prSet presAssocID="{C492C6F0-BC4A-4FDD-83BA-FC6E5D78B719}" presName="compositeNode" presStyleCnt="0">
        <dgm:presLayoutVars>
          <dgm:bulletEnabled val="1"/>
        </dgm:presLayoutVars>
      </dgm:prSet>
      <dgm:spPr/>
    </dgm:pt>
    <dgm:pt modelId="{5084BCE7-9C66-424D-952E-3FF8B11C7F98}" type="pres">
      <dgm:prSet presAssocID="{C492C6F0-BC4A-4FDD-83BA-FC6E5D78B719}" presName="bgRect" presStyleLbl="node1" presStyleIdx="2" presStyleCnt="4"/>
      <dgm:spPr/>
    </dgm:pt>
    <dgm:pt modelId="{7BB4BD42-7AE9-403F-9413-5F6FF40CA2E1}" type="pres">
      <dgm:prSet presAssocID="{C492C6F0-BC4A-4FDD-83BA-FC6E5D78B719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CA0856AE-A92A-420A-A0AB-6B46A2223327}" type="pres">
      <dgm:prSet presAssocID="{C492C6F0-BC4A-4FDD-83BA-FC6E5D78B719}" presName="childNode" presStyleLbl="node1" presStyleIdx="2" presStyleCnt="4">
        <dgm:presLayoutVars>
          <dgm:bulletEnabled val="1"/>
        </dgm:presLayoutVars>
      </dgm:prSet>
      <dgm:spPr/>
    </dgm:pt>
    <dgm:pt modelId="{CC6F7F34-A63F-44F9-AD9B-D5623290FF3B}" type="pres">
      <dgm:prSet presAssocID="{23488860-04FF-41C2-AF29-32AA98559B0D}" presName="hSp" presStyleCnt="0"/>
      <dgm:spPr/>
    </dgm:pt>
    <dgm:pt modelId="{E09C196C-9E92-46FE-BEAA-CEF2796DC84F}" type="pres">
      <dgm:prSet presAssocID="{23488860-04FF-41C2-AF29-32AA98559B0D}" presName="vProcSp" presStyleCnt="0"/>
      <dgm:spPr/>
    </dgm:pt>
    <dgm:pt modelId="{8635552B-F55A-4A56-BB5F-EBD6F85AED66}" type="pres">
      <dgm:prSet presAssocID="{23488860-04FF-41C2-AF29-32AA98559B0D}" presName="vSp1" presStyleCnt="0"/>
      <dgm:spPr/>
    </dgm:pt>
    <dgm:pt modelId="{175D51BE-D845-4341-9921-A27E2755EA1F}" type="pres">
      <dgm:prSet presAssocID="{23488860-04FF-41C2-AF29-32AA98559B0D}" presName="simulatedConn" presStyleLbl="solidFgAcc1" presStyleIdx="2" presStyleCnt="3"/>
      <dgm:spPr/>
    </dgm:pt>
    <dgm:pt modelId="{559B8C6F-CBCF-41D5-AA8D-C08C76BF894A}" type="pres">
      <dgm:prSet presAssocID="{23488860-04FF-41C2-AF29-32AA98559B0D}" presName="vSp2" presStyleCnt="0"/>
      <dgm:spPr/>
    </dgm:pt>
    <dgm:pt modelId="{E7E8B810-3552-48DD-8019-FB1B00CE7942}" type="pres">
      <dgm:prSet presAssocID="{23488860-04FF-41C2-AF29-32AA98559B0D}" presName="sibTrans" presStyleCnt="0"/>
      <dgm:spPr/>
    </dgm:pt>
    <dgm:pt modelId="{3319826A-8BAF-49BE-8DE0-AA6524303A8A}" type="pres">
      <dgm:prSet presAssocID="{73809A6E-2D1C-4AA3-85F0-6CCB6107A54F}" presName="compositeNode" presStyleCnt="0">
        <dgm:presLayoutVars>
          <dgm:bulletEnabled val="1"/>
        </dgm:presLayoutVars>
      </dgm:prSet>
      <dgm:spPr/>
    </dgm:pt>
    <dgm:pt modelId="{C34EA889-B84E-46BD-8B73-EFB2A3833E2B}" type="pres">
      <dgm:prSet presAssocID="{73809A6E-2D1C-4AA3-85F0-6CCB6107A54F}" presName="bgRect" presStyleLbl="node1" presStyleIdx="3" presStyleCnt="4" custLinFactNeighborX="160"/>
      <dgm:spPr/>
    </dgm:pt>
    <dgm:pt modelId="{49415F5F-CF76-4B90-AA2C-FD0411A0352C}" type="pres">
      <dgm:prSet presAssocID="{73809A6E-2D1C-4AA3-85F0-6CCB6107A54F}" presName="parentNode" presStyleLbl="node1" presStyleIdx="3" presStyleCnt="4">
        <dgm:presLayoutVars>
          <dgm:chMax val="0"/>
          <dgm:bulletEnabled val="1"/>
        </dgm:presLayoutVars>
      </dgm:prSet>
      <dgm:spPr/>
    </dgm:pt>
    <dgm:pt modelId="{0D87DED1-A475-41F3-AD9F-4A593EC01978}" type="pres">
      <dgm:prSet presAssocID="{73809A6E-2D1C-4AA3-85F0-6CCB6107A54F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EF244709-0F31-4B39-A73B-B4D15B6C5498}" srcId="{73809A6E-2D1C-4AA3-85F0-6CCB6107A54F}" destId="{D1102C52-CD73-4921-8C4D-5E51AC68D6D2}" srcOrd="0" destOrd="0" parTransId="{38327A25-83E5-445B-AFC4-9884E5F2F0BB}" sibTransId="{FBB96E77-8437-4B73-9795-7E9C163B28EE}"/>
    <dgm:cxn modelId="{5FE0C71C-8595-42DC-ABBB-680D306BC36C}" type="presOf" srcId="{73809A6E-2D1C-4AA3-85F0-6CCB6107A54F}" destId="{C34EA889-B84E-46BD-8B73-EFB2A3833E2B}" srcOrd="0" destOrd="0" presId="urn:microsoft.com/office/officeart/2005/8/layout/hProcess7"/>
    <dgm:cxn modelId="{E8407043-86F7-4878-98BF-1FBB1437643D}" srcId="{75E51E0C-3612-4364-BBD4-EBEF97BEF3C0}" destId="{C492C6F0-BC4A-4FDD-83BA-FC6E5D78B719}" srcOrd="2" destOrd="0" parTransId="{2C72B051-0BE6-4028-8796-1D6CC7422202}" sibTransId="{23488860-04FF-41C2-AF29-32AA98559B0D}"/>
    <dgm:cxn modelId="{AB168663-6C16-4250-8001-B83769ABC692}" type="presOf" srcId="{75E51E0C-3612-4364-BBD4-EBEF97BEF3C0}" destId="{AACB220B-F597-4D88-9CAC-DE3C59B8D302}" srcOrd="0" destOrd="0" presId="urn:microsoft.com/office/officeart/2005/8/layout/hProcess7"/>
    <dgm:cxn modelId="{E06C096A-00BA-4FAD-91DE-0A4126E93557}" type="presOf" srcId="{347CBAE4-C6F0-4FC1-99D1-7E0EB6913A0C}" destId="{9FDFC228-519D-4195-A066-3165DCEFAC23}" srcOrd="0" destOrd="0" presId="urn:microsoft.com/office/officeart/2005/8/layout/hProcess7"/>
    <dgm:cxn modelId="{C1281A4A-D72E-45D7-963E-DD7DB9132827}" type="presOf" srcId="{35533C7C-86B6-435D-9EB9-8B578CD46724}" destId="{CA0856AE-A92A-420A-A0AB-6B46A2223327}" srcOrd="0" destOrd="0" presId="urn:microsoft.com/office/officeart/2005/8/layout/hProcess7"/>
    <dgm:cxn modelId="{2E73966A-822A-41E2-9EE6-B25319D02EC3}" srcId="{75E51E0C-3612-4364-BBD4-EBEF97BEF3C0}" destId="{B2459380-C9E8-4DF2-800B-1FB6D7931366}" srcOrd="0" destOrd="0" parTransId="{4089D987-32D2-4B54-B826-A30D5CF69725}" sibTransId="{4FEE5A1F-0789-40D4-9FBB-94351153F6A6}"/>
    <dgm:cxn modelId="{677F3674-E3BA-403A-A591-C6B53CF2B1C4}" type="presOf" srcId="{D1102C52-CD73-4921-8C4D-5E51AC68D6D2}" destId="{0D87DED1-A475-41F3-AD9F-4A593EC01978}" srcOrd="0" destOrd="0" presId="urn:microsoft.com/office/officeart/2005/8/layout/hProcess7"/>
    <dgm:cxn modelId="{59B9197F-6BDF-4807-9442-B6B54137AF70}" type="presOf" srcId="{C492C6F0-BC4A-4FDD-83BA-FC6E5D78B719}" destId="{5084BCE7-9C66-424D-952E-3FF8B11C7F98}" srcOrd="0" destOrd="0" presId="urn:microsoft.com/office/officeart/2005/8/layout/hProcess7"/>
    <dgm:cxn modelId="{183B0980-BD35-429D-95C7-149B9B65B4E9}" srcId="{C492C6F0-BC4A-4FDD-83BA-FC6E5D78B719}" destId="{35533C7C-86B6-435D-9EB9-8B578CD46724}" srcOrd="0" destOrd="0" parTransId="{BA6F2AEE-C347-441D-9363-3920BD2A25AA}" sibTransId="{B31BAA99-516B-4F2A-BD05-3AA879A55A9A}"/>
    <dgm:cxn modelId="{EE089688-CDA3-411D-B1B7-0F2BD87FF076}" type="presOf" srcId="{B2459380-C9E8-4DF2-800B-1FB6D7931366}" destId="{1158096B-EFCD-4D33-84BE-1EDFD132E329}" srcOrd="1" destOrd="0" presId="urn:microsoft.com/office/officeart/2005/8/layout/hProcess7"/>
    <dgm:cxn modelId="{77369891-307B-4675-AF85-5E730B1053C1}" type="presOf" srcId="{73809A6E-2D1C-4AA3-85F0-6CCB6107A54F}" destId="{49415F5F-CF76-4B90-AA2C-FD0411A0352C}" srcOrd="1" destOrd="0" presId="urn:microsoft.com/office/officeart/2005/8/layout/hProcess7"/>
    <dgm:cxn modelId="{59EEC492-F57A-4926-B2A5-927256815E7D}" srcId="{B2A9BF1B-D5CC-40D9-A528-EDD8839BE239}" destId="{FD3E4C97-5A4E-4A78-81FF-E9AD9715CCBB}" srcOrd="0" destOrd="0" parTransId="{745E72D8-0D00-424C-8539-DADDE9A2995B}" sibTransId="{5EAFFB2E-B9C8-4596-A749-F291C402421E}"/>
    <dgm:cxn modelId="{B8503B9B-58FC-4DF3-B696-3FF12A75A03C}" type="presOf" srcId="{B2459380-C9E8-4DF2-800B-1FB6D7931366}" destId="{FEBB2E20-4643-42C1-9E30-199A6745A3E1}" srcOrd="0" destOrd="0" presId="urn:microsoft.com/office/officeart/2005/8/layout/hProcess7"/>
    <dgm:cxn modelId="{9E3D1AA1-09DC-4AF0-940A-5101275C628F}" type="presOf" srcId="{FD3E4C97-5A4E-4A78-81FF-E9AD9715CCBB}" destId="{18940EF5-E3BD-4085-A831-0C178B2AF1A4}" srcOrd="0" destOrd="0" presId="urn:microsoft.com/office/officeart/2005/8/layout/hProcess7"/>
    <dgm:cxn modelId="{D8509AA2-00EE-483B-8F10-3E63911B57B9}" srcId="{75E51E0C-3612-4364-BBD4-EBEF97BEF3C0}" destId="{B2A9BF1B-D5CC-40D9-A528-EDD8839BE239}" srcOrd="1" destOrd="0" parTransId="{EB6E3D35-AE3F-47F2-B096-2897B6C7702E}" sibTransId="{34A0BBE6-15BE-417B-9C34-7C23B15034E4}"/>
    <dgm:cxn modelId="{47C5B3AB-19A1-4EB7-8B87-2ED5EDE6CD11}" type="presOf" srcId="{B2A9BF1B-D5CC-40D9-A528-EDD8839BE239}" destId="{5D05630E-27E3-4686-A3C9-2EA04A53738F}" srcOrd="1" destOrd="0" presId="urn:microsoft.com/office/officeart/2005/8/layout/hProcess7"/>
    <dgm:cxn modelId="{F29B3AC2-6363-4723-A79F-AE9E1603DDE6}" type="presOf" srcId="{C492C6F0-BC4A-4FDD-83BA-FC6E5D78B719}" destId="{7BB4BD42-7AE9-403F-9413-5F6FF40CA2E1}" srcOrd="1" destOrd="0" presId="urn:microsoft.com/office/officeart/2005/8/layout/hProcess7"/>
    <dgm:cxn modelId="{CF7721DC-36B2-4045-ACC0-69C8917F14C4}" srcId="{75E51E0C-3612-4364-BBD4-EBEF97BEF3C0}" destId="{73809A6E-2D1C-4AA3-85F0-6CCB6107A54F}" srcOrd="3" destOrd="0" parTransId="{75A90A75-CCAC-4333-A4AA-4BDB5DB6F09B}" sibTransId="{950A4B64-EB30-4466-A9CB-D348C3516DBD}"/>
    <dgm:cxn modelId="{0F40DAE8-5A4C-4A55-BE4F-C216815CA1AD}" srcId="{B2459380-C9E8-4DF2-800B-1FB6D7931366}" destId="{347CBAE4-C6F0-4FC1-99D1-7E0EB6913A0C}" srcOrd="0" destOrd="0" parTransId="{DC554797-CAA4-4506-A788-268F538AEFD5}" sibTransId="{5646F80D-76CE-445B-9C14-006D7223076B}"/>
    <dgm:cxn modelId="{354440F6-37EC-4218-9B15-896F128B0A73}" type="presOf" srcId="{B2A9BF1B-D5CC-40D9-A528-EDD8839BE239}" destId="{EB40C17A-2570-448A-90FC-A55422B0C84F}" srcOrd="0" destOrd="0" presId="urn:microsoft.com/office/officeart/2005/8/layout/hProcess7"/>
    <dgm:cxn modelId="{611D04A0-E2E0-4BCB-93C1-C6FFB5853FF2}" type="presParOf" srcId="{AACB220B-F597-4D88-9CAC-DE3C59B8D302}" destId="{08FAD448-84A5-4C88-BC30-9C5C4BB61655}" srcOrd="0" destOrd="0" presId="urn:microsoft.com/office/officeart/2005/8/layout/hProcess7"/>
    <dgm:cxn modelId="{30AF0519-B5AD-42C3-AA0D-5F746D42CDAD}" type="presParOf" srcId="{08FAD448-84A5-4C88-BC30-9C5C4BB61655}" destId="{FEBB2E20-4643-42C1-9E30-199A6745A3E1}" srcOrd="0" destOrd="0" presId="urn:microsoft.com/office/officeart/2005/8/layout/hProcess7"/>
    <dgm:cxn modelId="{876D2B86-5BDB-4323-9DE1-07DF41BB9BA4}" type="presParOf" srcId="{08FAD448-84A5-4C88-BC30-9C5C4BB61655}" destId="{1158096B-EFCD-4D33-84BE-1EDFD132E329}" srcOrd="1" destOrd="0" presId="urn:microsoft.com/office/officeart/2005/8/layout/hProcess7"/>
    <dgm:cxn modelId="{45242920-2933-4907-9179-36C193FDE40B}" type="presParOf" srcId="{08FAD448-84A5-4C88-BC30-9C5C4BB61655}" destId="{9FDFC228-519D-4195-A066-3165DCEFAC23}" srcOrd="2" destOrd="0" presId="urn:microsoft.com/office/officeart/2005/8/layout/hProcess7"/>
    <dgm:cxn modelId="{F6117285-5EA9-4F87-B8CD-E1A051EBFD9A}" type="presParOf" srcId="{AACB220B-F597-4D88-9CAC-DE3C59B8D302}" destId="{DC611F4D-3987-4C19-B7D1-9B0ED2968E3B}" srcOrd="1" destOrd="0" presId="urn:microsoft.com/office/officeart/2005/8/layout/hProcess7"/>
    <dgm:cxn modelId="{610CC4C0-F173-41B0-AA68-68A6990C56F2}" type="presParOf" srcId="{AACB220B-F597-4D88-9CAC-DE3C59B8D302}" destId="{D6262552-8560-42DB-834C-59CF908CB7E3}" srcOrd="2" destOrd="0" presId="urn:microsoft.com/office/officeart/2005/8/layout/hProcess7"/>
    <dgm:cxn modelId="{B0835DC4-BF7D-436A-86B8-FF25E739A0D5}" type="presParOf" srcId="{D6262552-8560-42DB-834C-59CF908CB7E3}" destId="{01A9BCC7-44B7-4355-B4A2-12839197145F}" srcOrd="0" destOrd="0" presId="urn:microsoft.com/office/officeart/2005/8/layout/hProcess7"/>
    <dgm:cxn modelId="{F41FE1E3-89C0-4A71-8CB6-C01F114E8DAC}" type="presParOf" srcId="{D6262552-8560-42DB-834C-59CF908CB7E3}" destId="{AF625150-7000-42DE-88F1-02FE5D256A50}" srcOrd="1" destOrd="0" presId="urn:microsoft.com/office/officeart/2005/8/layout/hProcess7"/>
    <dgm:cxn modelId="{54C00E40-6BCF-4F88-8F2E-CA1C741BB27D}" type="presParOf" srcId="{D6262552-8560-42DB-834C-59CF908CB7E3}" destId="{238A7A74-49A7-432F-8DD1-2E15F87253C8}" srcOrd="2" destOrd="0" presId="urn:microsoft.com/office/officeart/2005/8/layout/hProcess7"/>
    <dgm:cxn modelId="{2C621689-4FFD-4C44-BCF8-B9DC7F9CF0A7}" type="presParOf" srcId="{AACB220B-F597-4D88-9CAC-DE3C59B8D302}" destId="{1806B1A7-CE87-4B12-B351-C3CC79A029A3}" srcOrd="3" destOrd="0" presId="urn:microsoft.com/office/officeart/2005/8/layout/hProcess7"/>
    <dgm:cxn modelId="{8A1153AF-6FF7-4B61-BF52-D8780B71B7AF}" type="presParOf" srcId="{AACB220B-F597-4D88-9CAC-DE3C59B8D302}" destId="{3F270178-58D8-4CE1-A35C-6E8F2CA119CD}" srcOrd="4" destOrd="0" presId="urn:microsoft.com/office/officeart/2005/8/layout/hProcess7"/>
    <dgm:cxn modelId="{48EF111C-FD4E-4D7E-A4E0-1469EA5D31C9}" type="presParOf" srcId="{3F270178-58D8-4CE1-A35C-6E8F2CA119CD}" destId="{EB40C17A-2570-448A-90FC-A55422B0C84F}" srcOrd="0" destOrd="0" presId="urn:microsoft.com/office/officeart/2005/8/layout/hProcess7"/>
    <dgm:cxn modelId="{73B0CBCE-7E27-4648-8EDE-7425CE3BF06E}" type="presParOf" srcId="{3F270178-58D8-4CE1-A35C-6E8F2CA119CD}" destId="{5D05630E-27E3-4686-A3C9-2EA04A53738F}" srcOrd="1" destOrd="0" presId="urn:microsoft.com/office/officeart/2005/8/layout/hProcess7"/>
    <dgm:cxn modelId="{435481AA-49BE-4EF7-9738-B4AB9F69BEDA}" type="presParOf" srcId="{3F270178-58D8-4CE1-A35C-6E8F2CA119CD}" destId="{18940EF5-E3BD-4085-A831-0C178B2AF1A4}" srcOrd="2" destOrd="0" presId="urn:microsoft.com/office/officeart/2005/8/layout/hProcess7"/>
    <dgm:cxn modelId="{3CB23F0B-484D-465D-919E-A3A9EAD9146B}" type="presParOf" srcId="{AACB220B-F597-4D88-9CAC-DE3C59B8D302}" destId="{79AAB583-0A1A-4FE3-B10D-8BF22AB6BF27}" srcOrd="5" destOrd="0" presId="urn:microsoft.com/office/officeart/2005/8/layout/hProcess7"/>
    <dgm:cxn modelId="{BB0FE87B-E494-4C4D-93D6-62C399088425}" type="presParOf" srcId="{AACB220B-F597-4D88-9CAC-DE3C59B8D302}" destId="{6F16D7AF-C180-400A-ABD1-BB4EF90B608F}" srcOrd="6" destOrd="0" presId="urn:microsoft.com/office/officeart/2005/8/layout/hProcess7"/>
    <dgm:cxn modelId="{36D305D3-0CEA-4F0B-BA28-B7998BD03273}" type="presParOf" srcId="{6F16D7AF-C180-400A-ABD1-BB4EF90B608F}" destId="{A89C9E16-82B5-422E-ADC6-287E4963EFC3}" srcOrd="0" destOrd="0" presId="urn:microsoft.com/office/officeart/2005/8/layout/hProcess7"/>
    <dgm:cxn modelId="{7B45EBA2-D1F3-4443-89A4-4106B0E5EABB}" type="presParOf" srcId="{6F16D7AF-C180-400A-ABD1-BB4EF90B608F}" destId="{1299ACC6-527B-474A-99BC-BA3167D27769}" srcOrd="1" destOrd="0" presId="urn:microsoft.com/office/officeart/2005/8/layout/hProcess7"/>
    <dgm:cxn modelId="{841E3740-171A-40EF-96FD-07EE06C97021}" type="presParOf" srcId="{6F16D7AF-C180-400A-ABD1-BB4EF90B608F}" destId="{0999FAFB-655C-4002-9909-85B666745820}" srcOrd="2" destOrd="0" presId="urn:microsoft.com/office/officeart/2005/8/layout/hProcess7"/>
    <dgm:cxn modelId="{6B972909-1A48-41AC-841C-678C62B67645}" type="presParOf" srcId="{AACB220B-F597-4D88-9CAC-DE3C59B8D302}" destId="{DF02336E-74AF-4DFD-BDD9-033B581347AF}" srcOrd="7" destOrd="0" presId="urn:microsoft.com/office/officeart/2005/8/layout/hProcess7"/>
    <dgm:cxn modelId="{094D8591-1991-4562-A82F-A1640C305A5B}" type="presParOf" srcId="{AACB220B-F597-4D88-9CAC-DE3C59B8D302}" destId="{88622662-C344-431C-AAF6-81D2B303075F}" srcOrd="8" destOrd="0" presId="urn:microsoft.com/office/officeart/2005/8/layout/hProcess7"/>
    <dgm:cxn modelId="{7E66D731-237D-48B1-AB82-430C948EC378}" type="presParOf" srcId="{88622662-C344-431C-AAF6-81D2B303075F}" destId="{5084BCE7-9C66-424D-952E-3FF8B11C7F98}" srcOrd="0" destOrd="0" presId="urn:microsoft.com/office/officeart/2005/8/layout/hProcess7"/>
    <dgm:cxn modelId="{E9AB6968-A92F-4526-9675-CF65B1A4768C}" type="presParOf" srcId="{88622662-C344-431C-AAF6-81D2B303075F}" destId="{7BB4BD42-7AE9-403F-9413-5F6FF40CA2E1}" srcOrd="1" destOrd="0" presId="urn:microsoft.com/office/officeart/2005/8/layout/hProcess7"/>
    <dgm:cxn modelId="{18378426-F9AD-49D6-8002-E06D2F7945C2}" type="presParOf" srcId="{88622662-C344-431C-AAF6-81D2B303075F}" destId="{CA0856AE-A92A-420A-A0AB-6B46A2223327}" srcOrd="2" destOrd="0" presId="urn:microsoft.com/office/officeart/2005/8/layout/hProcess7"/>
    <dgm:cxn modelId="{5091581E-0156-4DF1-92D0-D232E7850629}" type="presParOf" srcId="{AACB220B-F597-4D88-9CAC-DE3C59B8D302}" destId="{CC6F7F34-A63F-44F9-AD9B-D5623290FF3B}" srcOrd="9" destOrd="0" presId="urn:microsoft.com/office/officeart/2005/8/layout/hProcess7"/>
    <dgm:cxn modelId="{C1207523-C98C-4326-B90E-565199011C5A}" type="presParOf" srcId="{AACB220B-F597-4D88-9CAC-DE3C59B8D302}" destId="{E09C196C-9E92-46FE-BEAA-CEF2796DC84F}" srcOrd="10" destOrd="0" presId="urn:microsoft.com/office/officeart/2005/8/layout/hProcess7"/>
    <dgm:cxn modelId="{B169CE31-BAC3-481E-B973-755677CEAD1B}" type="presParOf" srcId="{E09C196C-9E92-46FE-BEAA-CEF2796DC84F}" destId="{8635552B-F55A-4A56-BB5F-EBD6F85AED66}" srcOrd="0" destOrd="0" presId="urn:microsoft.com/office/officeart/2005/8/layout/hProcess7"/>
    <dgm:cxn modelId="{F4F79F57-CF9A-4D72-90E7-741005FCD677}" type="presParOf" srcId="{E09C196C-9E92-46FE-BEAA-CEF2796DC84F}" destId="{175D51BE-D845-4341-9921-A27E2755EA1F}" srcOrd="1" destOrd="0" presId="urn:microsoft.com/office/officeart/2005/8/layout/hProcess7"/>
    <dgm:cxn modelId="{F7CF8AC4-4D02-4182-8C6C-13AC5FFF89D7}" type="presParOf" srcId="{E09C196C-9E92-46FE-BEAA-CEF2796DC84F}" destId="{559B8C6F-CBCF-41D5-AA8D-C08C76BF894A}" srcOrd="2" destOrd="0" presId="urn:microsoft.com/office/officeart/2005/8/layout/hProcess7"/>
    <dgm:cxn modelId="{1AEAFB7A-713C-4DF1-9723-754FAB2E9697}" type="presParOf" srcId="{AACB220B-F597-4D88-9CAC-DE3C59B8D302}" destId="{E7E8B810-3552-48DD-8019-FB1B00CE7942}" srcOrd="11" destOrd="0" presId="urn:microsoft.com/office/officeart/2005/8/layout/hProcess7"/>
    <dgm:cxn modelId="{33F01936-C252-45CC-800C-FD4CA0CA5834}" type="presParOf" srcId="{AACB220B-F597-4D88-9CAC-DE3C59B8D302}" destId="{3319826A-8BAF-49BE-8DE0-AA6524303A8A}" srcOrd="12" destOrd="0" presId="urn:microsoft.com/office/officeart/2005/8/layout/hProcess7"/>
    <dgm:cxn modelId="{7F8F9C3A-B1F5-4DA6-8FC2-9F5098F7359D}" type="presParOf" srcId="{3319826A-8BAF-49BE-8DE0-AA6524303A8A}" destId="{C34EA889-B84E-46BD-8B73-EFB2A3833E2B}" srcOrd="0" destOrd="0" presId="urn:microsoft.com/office/officeart/2005/8/layout/hProcess7"/>
    <dgm:cxn modelId="{73506963-3B18-4C58-BE98-FA0688A72A1A}" type="presParOf" srcId="{3319826A-8BAF-49BE-8DE0-AA6524303A8A}" destId="{49415F5F-CF76-4B90-AA2C-FD0411A0352C}" srcOrd="1" destOrd="0" presId="urn:microsoft.com/office/officeart/2005/8/layout/hProcess7"/>
    <dgm:cxn modelId="{2111567E-EEB6-4F9D-B431-7F14FA893D88}" type="presParOf" srcId="{3319826A-8BAF-49BE-8DE0-AA6524303A8A}" destId="{0D87DED1-A475-41F3-AD9F-4A593EC01978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3BE2E-93D1-4852-AB4E-DE0B0A0724DE}">
      <dsp:nvSpPr>
        <dsp:cNvPr id="0" name=""/>
        <dsp:cNvSpPr/>
      </dsp:nvSpPr>
      <dsp:spPr>
        <a:xfrm>
          <a:off x="3791" y="0"/>
          <a:ext cx="5084117" cy="3678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- Camera IP gia đình ngày càng phổ biến nhưng thiếu quy trình kiểm thử bỏ mật chuẩn hóa trước triển khai.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- Lỗi cơ bản (Mật khẩu mặc định, không mã hóa, update không xác thực) tồn tại lâu không bị phát hiện.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- Hậu quả: camera bị chiếm quyền , rò rỉ hình ảnh riêng tư, trở thành  một phần của botnet IoT.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- Cần một quy trình bao phủ đầy đủ: phần cứng, firmware, mạng, API/Cloud, app, cơ chế cập nhật.</a:t>
          </a:r>
        </a:p>
      </dsp:txBody>
      <dsp:txXfrm>
        <a:off x="111523" y="107732"/>
        <a:ext cx="4868653" cy="3462774"/>
      </dsp:txXfrm>
    </dsp:sp>
    <dsp:sp modelId="{2FE95D21-968F-4DB1-BA16-99CFE4B060BA}">
      <dsp:nvSpPr>
        <dsp:cNvPr id="0" name=""/>
        <dsp:cNvSpPr/>
      </dsp:nvSpPr>
      <dsp:spPr>
        <a:xfrm>
          <a:off x="5942040" y="0"/>
          <a:ext cx="5084117" cy="3678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1. Xây dựng quy trình kiểm thử 8 bước dựa trên OWASP ISTG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2. </a:t>
          </a:r>
          <a:r>
            <a:rPr lang="vi-VN" sz="1400" kern="12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Lập checklist 25 tiêu chí ánh xạ với OWASP ISVS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3.</a:t>
          </a:r>
          <a:r>
            <a:rPr lang="vi-VN" sz="1400" kern="12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 Xây dựng mẫu báo cáo phát hiện lỗ hổng tái sử dụng được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4. </a:t>
          </a:r>
          <a:r>
            <a:rPr lang="vi-VN" sz="1400" kern="12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Áp dụng thử quy trình lên camera IP gia đình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5. </a:t>
          </a:r>
          <a:r>
            <a:rPr lang="vi-VN" sz="1400" kern="12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Xây dựng ma trận rủi ro và thứ tự ưu tiên xử lý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6. </a:t>
          </a:r>
          <a:r>
            <a:rPr lang="vi-VN" sz="1400" kern="1200" noProof="1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Viết script Python tự động sinh báo cáo từ checklist</a:t>
          </a:r>
          <a:endParaRPr lang="en-US" sz="1400" kern="1200" dirty="0">
            <a:solidFill>
              <a:schemeClr val="tx1"/>
            </a:solidFill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049772" y="107732"/>
        <a:ext cx="4868653" cy="34627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B2E20-4643-42C1-9E30-199A6745A3E1}">
      <dsp:nvSpPr>
        <dsp:cNvPr id="0" name=""/>
        <dsp:cNvSpPr/>
      </dsp:nvSpPr>
      <dsp:spPr>
        <a:xfrm>
          <a:off x="4463" y="0"/>
          <a:ext cx="2684699" cy="1987306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75565" bIns="0" numCol="1" spcCol="1270" anchor="t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b="1" kern="1200" noProof="1">
              <a:latin typeface="+mj-lt"/>
              <a:ea typeface="Calibri" pitchFamily="34" charset="-122"/>
              <a:cs typeface="Calibri" pitchFamily="34" charset="-120"/>
            </a:rPr>
            <a:t>OWASP ISTG</a:t>
          </a:r>
          <a:endParaRPr lang="vi-VN" sz="1700" kern="1200" dirty="0">
            <a:latin typeface="+mj-lt"/>
          </a:endParaRPr>
        </a:p>
      </dsp:txBody>
      <dsp:txXfrm rot="16200000">
        <a:off x="-541862" y="546325"/>
        <a:ext cx="1629590" cy="536939"/>
      </dsp:txXfrm>
    </dsp:sp>
    <dsp:sp modelId="{9FDFC228-519D-4195-A066-3165DCEFAC23}">
      <dsp:nvSpPr>
        <dsp:cNvPr id="0" name=""/>
        <dsp:cNvSpPr/>
      </dsp:nvSpPr>
      <dsp:spPr>
        <a:xfrm>
          <a:off x="541403" y="0"/>
          <a:ext cx="2000100" cy="1987306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 noProof="1">
              <a:latin typeface="+mn-lt"/>
              <a:ea typeface="Calibri" pitchFamily="34" charset="-122"/>
              <a:cs typeface="Calibri" pitchFamily="34" charset="-120"/>
            </a:rPr>
            <a:t>Phương pháp luận kiểm thử bảo mật IoT - khung sườn cho quy trình 8 bước.</a:t>
          </a:r>
          <a:endParaRPr lang="vi-VN" sz="2000" kern="1200" dirty="0">
            <a:latin typeface="+mn-lt"/>
          </a:endParaRPr>
        </a:p>
      </dsp:txBody>
      <dsp:txXfrm>
        <a:off x="541403" y="0"/>
        <a:ext cx="2000100" cy="1987306"/>
      </dsp:txXfrm>
    </dsp:sp>
    <dsp:sp modelId="{EB40C17A-2570-448A-90FC-A55422B0C84F}">
      <dsp:nvSpPr>
        <dsp:cNvPr id="0" name=""/>
        <dsp:cNvSpPr/>
      </dsp:nvSpPr>
      <dsp:spPr>
        <a:xfrm>
          <a:off x="2783126" y="0"/>
          <a:ext cx="2684699" cy="1987306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75565" bIns="0" numCol="1" spcCol="1270" anchor="t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b="1" kern="1200" noProof="1">
              <a:latin typeface="+mj-lt"/>
              <a:ea typeface="Calibri" pitchFamily="34" charset="-122"/>
              <a:cs typeface="Calibri" pitchFamily="34" charset="-120"/>
            </a:rPr>
            <a:t>OWASP ISVS</a:t>
          </a:r>
          <a:endParaRPr lang="vi-VN" sz="1700" kern="1200" dirty="0">
            <a:latin typeface="+mj-lt"/>
          </a:endParaRPr>
        </a:p>
      </dsp:txBody>
      <dsp:txXfrm rot="16200000">
        <a:off x="2236801" y="546325"/>
        <a:ext cx="1629590" cy="536939"/>
      </dsp:txXfrm>
    </dsp:sp>
    <dsp:sp modelId="{AF625150-7000-42DE-88F1-02FE5D256A50}">
      <dsp:nvSpPr>
        <dsp:cNvPr id="0" name=""/>
        <dsp:cNvSpPr/>
      </dsp:nvSpPr>
      <dsp:spPr>
        <a:xfrm rot="5400000">
          <a:off x="2650534" y="1502165"/>
          <a:ext cx="292031" cy="40270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40EF5-E3BD-4085-A831-0C178B2AF1A4}">
      <dsp:nvSpPr>
        <dsp:cNvPr id="0" name=""/>
        <dsp:cNvSpPr/>
      </dsp:nvSpPr>
      <dsp:spPr>
        <a:xfrm>
          <a:off x="3320066" y="0"/>
          <a:ext cx="2000100" cy="1987306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 noProof="1">
              <a:latin typeface="+mn-lt"/>
              <a:ea typeface="Calibri" pitchFamily="34" charset="-122"/>
              <a:cs typeface="Calibri" pitchFamily="34" charset="-120"/>
            </a:rPr>
            <a:t>Danh mục yêu cầu xác minh bảo mật - dùng để ánh xạ checklist.</a:t>
          </a:r>
          <a:endParaRPr lang="vi-VN" sz="2000" kern="1200" dirty="0">
            <a:latin typeface="+mn-lt"/>
          </a:endParaRPr>
        </a:p>
      </dsp:txBody>
      <dsp:txXfrm>
        <a:off x="3320066" y="0"/>
        <a:ext cx="2000100" cy="1987306"/>
      </dsp:txXfrm>
    </dsp:sp>
    <dsp:sp modelId="{5084BCE7-9C66-424D-952E-3FF8B11C7F98}">
      <dsp:nvSpPr>
        <dsp:cNvPr id="0" name=""/>
        <dsp:cNvSpPr/>
      </dsp:nvSpPr>
      <dsp:spPr>
        <a:xfrm>
          <a:off x="5561790" y="0"/>
          <a:ext cx="2684699" cy="1987306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75565" bIns="0" numCol="1" spcCol="1270" anchor="t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b="1" kern="1200" noProof="1">
              <a:latin typeface="+mj-lt"/>
              <a:ea typeface="Calibri" pitchFamily="34" charset="-122"/>
              <a:cs typeface="Calibri" pitchFamily="34" charset="-120"/>
            </a:rPr>
            <a:t>OWASP FSTM</a:t>
          </a:r>
          <a:endParaRPr lang="vi-VN" sz="1700" kern="1200" dirty="0">
            <a:latin typeface="+mj-lt"/>
          </a:endParaRPr>
        </a:p>
      </dsp:txBody>
      <dsp:txXfrm rot="16200000">
        <a:off x="5015464" y="546325"/>
        <a:ext cx="1629590" cy="536939"/>
      </dsp:txXfrm>
    </dsp:sp>
    <dsp:sp modelId="{1299ACC6-527B-474A-99BC-BA3167D27769}">
      <dsp:nvSpPr>
        <dsp:cNvPr id="0" name=""/>
        <dsp:cNvSpPr/>
      </dsp:nvSpPr>
      <dsp:spPr>
        <a:xfrm rot="5400000">
          <a:off x="5429197" y="1502165"/>
          <a:ext cx="292031" cy="40270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856AE-A92A-420A-A0AB-6B46A2223327}">
      <dsp:nvSpPr>
        <dsp:cNvPr id="0" name=""/>
        <dsp:cNvSpPr/>
      </dsp:nvSpPr>
      <dsp:spPr>
        <a:xfrm>
          <a:off x="6098730" y="0"/>
          <a:ext cx="2000100" cy="1987306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 noProof="1">
              <a:latin typeface="+mn-lt"/>
              <a:ea typeface="Calibri" pitchFamily="34" charset="-122"/>
              <a:cs typeface="Calibri" pitchFamily="34" charset="-120"/>
            </a:rPr>
            <a:t>Quy trình phân tích firmware: thu thập, trích xuất, tìm secret hard-code.</a:t>
          </a:r>
          <a:endParaRPr lang="vi-VN" sz="2000" kern="1200" dirty="0">
            <a:latin typeface="+mn-lt"/>
          </a:endParaRPr>
        </a:p>
      </dsp:txBody>
      <dsp:txXfrm>
        <a:off x="6098730" y="0"/>
        <a:ext cx="2000100" cy="1987306"/>
      </dsp:txXfrm>
    </dsp:sp>
    <dsp:sp modelId="{C34EA889-B84E-46BD-8B73-EFB2A3833E2B}">
      <dsp:nvSpPr>
        <dsp:cNvPr id="0" name=""/>
        <dsp:cNvSpPr/>
      </dsp:nvSpPr>
      <dsp:spPr>
        <a:xfrm>
          <a:off x="8344749" y="0"/>
          <a:ext cx="2684699" cy="1987306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75565" bIns="0" numCol="1" spcCol="1270" anchor="t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b="1" kern="1200" noProof="1">
              <a:latin typeface="+mj-lt"/>
              <a:ea typeface="Calibri" pitchFamily="34" charset="-122"/>
              <a:cs typeface="Calibri" pitchFamily="34" charset="-120"/>
            </a:rPr>
            <a:t>OWASP IoTGoat</a:t>
          </a:r>
          <a:endParaRPr lang="vi-VN" sz="1700" kern="1200" dirty="0">
            <a:latin typeface="+mj-lt"/>
          </a:endParaRPr>
        </a:p>
      </dsp:txBody>
      <dsp:txXfrm rot="16200000">
        <a:off x="7798423" y="546325"/>
        <a:ext cx="1629590" cy="536939"/>
      </dsp:txXfrm>
    </dsp:sp>
    <dsp:sp modelId="{175D51BE-D845-4341-9921-A27E2755EA1F}">
      <dsp:nvSpPr>
        <dsp:cNvPr id="0" name=""/>
        <dsp:cNvSpPr/>
      </dsp:nvSpPr>
      <dsp:spPr>
        <a:xfrm rot="5400000">
          <a:off x="8207861" y="1502165"/>
          <a:ext cx="292031" cy="40270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7DED1-A475-41F3-AD9F-4A593EC01978}">
      <dsp:nvSpPr>
        <dsp:cNvPr id="0" name=""/>
        <dsp:cNvSpPr/>
      </dsp:nvSpPr>
      <dsp:spPr>
        <a:xfrm>
          <a:off x="8881689" y="0"/>
          <a:ext cx="2000100" cy="1987306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 noProof="1">
              <a:latin typeface="+mn-lt"/>
              <a:ea typeface="Calibri" pitchFamily="34" charset="-122"/>
              <a:cs typeface="Calibri" pitchFamily="34" charset="-120"/>
            </a:rPr>
            <a:t>Firmware co chu dich co lỗ hổng, dùng làm ví dụ minh họa học tập.</a:t>
          </a:r>
          <a:endParaRPr lang="vi-VN" sz="2000" kern="1200" dirty="0">
            <a:latin typeface="+mn-lt"/>
          </a:endParaRPr>
        </a:p>
      </dsp:txBody>
      <dsp:txXfrm>
        <a:off x="8881689" y="0"/>
        <a:ext cx="2000100" cy="1987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D4F23-57C2-4948-A668-A95A04BD2DA4}" type="datetimeFigureOut">
              <a:rPr lang="vi-VN" smtClean="0"/>
              <a:t>06/07/2026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BC06-B746-4F5D-B96F-E2446405463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53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F6AD-6312-80B1-52BE-06E0ABD8B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692440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QUY </a:t>
            </a:r>
            <a:r>
              <a:rPr lang="vi-VN" dirty="0"/>
              <a:t>TRÌNH KIỂM THỬ BẢO MẬT CHO MỘT SẢN PHẨM Iot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A3880-1C96-7F18-4538-12118E2C2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167453"/>
            <a:ext cx="10993546" cy="590321"/>
          </a:xfrm>
        </p:spPr>
        <p:txBody>
          <a:bodyPr>
            <a:normAutofit fontScale="92500" lnSpcReduction="20000"/>
          </a:bodyPr>
          <a:lstStyle/>
          <a:p>
            <a:r>
              <a:rPr lang="vi-VN" dirty="0"/>
              <a:t>SVTH: CHU NGUYỄN THÁI TUẤN</a:t>
            </a:r>
          </a:p>
          <a:p>
            <a:r>
              <a:rPr lang="vi-VN" dirty="0"/>
              <a:t>GVHD: HỒ NHỰT MINH SĨ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88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81DE-C665-54E2-EC9D-3649B9B0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VẤN ĐỀ BẢO MẬT &amp; MỤC TIÊU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C4510B-8F95-AC51-1A51-6825B64D5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734664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701BC722-B0E5-3E9A-7D77-588BFB2CD45D}"/>
              </a:ext>
            </a:extLst>
          </p:cNvPr>
          <p:cNvSpPr/>
          <p:nvPr/>
        </p:nvSpPr>
        <p:spPr>
          <a:xfrm>
            <a:off x="699714" y="2278049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warning_white.png">
            <a:extLst>
              <a:ext uri="{FF2B5EF4-FFF2-40B4-BE49-F238E27FC236}">
                <a16:creationId xmlns:a16="http://schemas.microsoft.com/office/drawing/2014/main" id="{5DD102B1-B65C-D74F-D829-2536E6D1CC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333" y="2431668"/>
            <a:ext cx="332842" cy="332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86B001-B4BC-2DBE-F6BF-6DA0E1E6A7FB}"/>
              </a:ext>
            </a:extLst>
          </p:cNvPr>
          <p:cNvSpPr txBox="1"/>
          <p:nvPr/>
        </p:nvSpPr>
        <p:spPr>
          <a:xfrm>
            <a:off x="1339794" y="2431668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Vấn đề</a:t>
            </a:r>
            <a:endParaRPr lang="en-US" b="1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22F939B-0B51-86A2-FBDC-7F8A11FA2709}"/>
              </a:ext>
            </a:extLst>
          </p:cNvPr>
          <p:cNvSpPr/>
          <p:nvPr/>
        </p:nvSpPr>
        <p:spPr>
          <a:xfrm>
            <a:off x="6642818" y="2278049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13" name="Image 1" descr="icons/target_navy.png">
            <a:extLst>
              <a:ext uri="{FF2B5EF4-FFF2-40B4-BE49-F238E27FC236}">
                <a16:creationId xmlns:a16="http://schemas.microsoft.com/office/drawing/2014/main" id="{6B8A107C-4DFA-760C-000B-15872ABBFD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6437" y="2431668"/>
            <a:ext cx="332842" cy="3328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F06B57-AC97-6237-9B85-4A3E9BCB5BD7}"/>
              </a:ext>
            </a:extLst>
          </p:cNvPr>
          <p:cNvSpPr txBox="1"/>
          <p:nvPr/>
        </p:nvSpPr>
        <p:spPr>
          <a:xfrm>
            <a:off x="7282898" y="2413423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Mục tiêu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5481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16F4-ED69-56EC-2525-E18937C1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Nguồn github &amp; kiến thức nền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622A16-6D0C-A904-D12D-6FAC01929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961720"/>
              </p:ext>
            </p:extLst>
          </p:nvPr>
        </p:nvGraphicFramePr>
        <p:xfrm>
          <a:off x="581192" y="1948591"/>
          <a:ext cx="11029616" cy="1987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9D10A6-ABE1-37D8-1C0C-6CF0A225F46F}"/>
              </a:ext>
            </a:extLst>
          </p:cNvPr>
          <p:cNvSpPr/>
          <p:nvPr/>
        </p:nvSpPr>
        <p:spPr>
          <a:xfrm>
            <a:off x="581192" y="4332941"/>
            <a:ext cx="11029616" cy="210709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algn="just"/>
            <a:r>
              <a:rPr lang="vi-VN" b="1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thù kiểm thử bảo mật IoT:</a:t>
            </a:r>
            <a:endParaRPr lang="vi-VN" noProof="1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914400" algn="just"/>
            <a:r>
              <a:rPr lang="vi-VN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 tấn công đa lớp (phần cứng, firmware, mạng, API, app) - Tài nguyên hạn chế (khó chạy TLS nặng) - Vong doi dai, khó cập nhật (cần chú trọng OTA &amp; secure boot).</a:t>
            </a:r>
            <a:endParaRPr lang="vi-VN" noProof="1"/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02052B83-512E-5259-DB13-7598B412E5A4}"/>
              </a:ext>
            </a:extLst>
          </p:cNvPr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15" name="Image 4" descr="icons/sitemap_teal.png">
            <a:extLst>
              <a:ext uri="{FF2B5EF4-FFF2-40B4-BE49-F238E27FC236}">
                <a16:creationId xmlns:a16="http://schemas.microsoft.com/office/drawing/2014/main" id="{71604CD9-A893-C590-11C5-7C43CCF57AD8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987552" y="5056632"/>
            <a:ext cx="356616" cy="35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5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7397-D463-6FD7-8514-162EADF0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hình hệ thống &amp; quy trình thực hiện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45B9-2F3F-32F6-5C52-C9C24F228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vi-VN" b="1" noProof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Kiến trúc Camera IP gia đình (luồng dữ liệu)</a:t>
            </a:r>
          </a:p>
          <a:p>
            <a:pPr marL="0" indent="0">
              <a:buNone/>
            </a:pPr>
            <a:endParaRPr lang="vi-VN" noProof="1"/>
          </a:p>
          <a:p>
            <a:endParaRPr lang="vi-VN" dirty="0"/>
          </a:p>
          <a:p>
            <a:endParaRPr lang="vi-VN" dirty="0"/>
          </a:p>
          <a:p>
            <a:pPr marL="0" indent="0">
              <a:buNone/>
            </a:pPr>
            <a:r>
              <a:rPr lang="vi-VN" b="1" noProof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Quy trình kiểm thử bảo mật (8 bước, dựa trên OWASP ISTG)</a:t>
            </a:r>
            <a:endParaRPr lang="vi-VN" noProof="1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vi-VN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EB2B78E-4539-7D6D-44C8-E460098D7F1C}"/>
              </a:ext>
            </a:extLst>
          </p:cNvPr>
          <p:cNvSpPr/>
          <p:nvPr/>
        </p:nvSpPr>
        <p:spPr>
          <a:xfrm>
            <a:off x="660705" y="265176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5C20D0E-A0A9-9BD6-DEA9-2D70D260EB85}"/>
              </a:ext>
            </a:extLst>
          </p:cNvPr>
          <p:cNvSpPr/>
          <p:nvPr/>
        </p:nvSpPr>
        <p:spPr>
          <a:xfrm>
            <a:off x="770433" y="2834640"/>
            <a:ext cx="502920" cy="50292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9" name="Image 0" descr="icons/chip_white.png">
            <a:extLst>
              <a:ext uri="{FF2B5EF4-FFF2-40B4-BE49-F238E27FC236}">
                <a16:creationId xmlns:a16="http://schemas.microsoft.com/office/drawing/2014/main" id="{236F9DBD-56A8-3D85-D8D3-EBF0B354B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34" y="2955341"/>
            <a:ext cx="261518" cy="26151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D316B9AE-F02E-1DE3-4520-02804C2498F3}"/>
              </a:ext>
            </a:extLst>
          </p:cNvPr>
          <p:cNvSpPr/>
          <p:nvPr/>
        </p:nvSpPr>
        <p:spPr>
          <a:xfrm>
            <a:off x="1346505" y="26517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Camera IP</a:t>
            </a:r>
            <a:endParaRPr lang="vi-VN" sz="1400" noProof="1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2DBBA70-61BC-9DE5-3E7E-9035C0452284}"/>
              </a:ext>
            </a:extLst>
          </p:cNvPr>
          <p:cNvSpPr/>
          <p:nvPr/>
        </p:nvSpPr>
        <p:spPr>
          <a:xfrm>
            <a:off x="2809545" y="3086100"/>
            <a:ext cx="502920" cy="0"/>
          </a:xfrm>
          <a:prstGeom prst="line">
            <a:avLst/>
          </a:prstGeom>
          <a:noFill/>
          <a:ln w="31750">
            <a:solidFill>
              <a:srgbClr val="4D1434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04612578-13CB-73C5-F7D9-9FCF8A46C2F4}"/>
              </a:ext>
            </a:extLst>
          </p:cNvPr>
          <p:cNvSpPr/>
          <p:nvPr/>
        </p:nvSpPr>
        <p:spPr>
          <a:xfrm>
            <a:off x="3312465" y="265176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6CF6FB9-FA44-F087-7BA8-6E5E50A46E33}"/>
              </a:ext>
            </a:extLst>
          </p:cNvPr>
          <p:cNvSpPr/>
          <p:nvPr/>
        </p:nvSpPr>
        <p:spPr>
          <a:xfrm>
            <a:off x="3422193" y="2834640"/>
            <a:ext cx="502920" cy="50292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19" name="Image 1" descr="icons/network_white.png">
            <a:extLst>
              <a:ext uri="{FF2B5EF4-FFF2-40B4-BE49-F238E27FC236}">
                <a16:creationId xmlns:a16="http://schemas.microsoft.com/office/drawing/2014/main" id="{D54EC4BA-4117-2733-A665-3DE76659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894" y="2955341"/>
            <a:ext cx="261518" cy="261518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AB3EA166-B585-AC9B-3A5D-86A5E49AF8A1}"/>
              </a:ext>
            </a:extLst>
          </p:cNvPr>
          <p:cNvSpPr/>
          <p:nvPr/>
        </p:nvSpPr>
        <p:spPr>
          <a:xfrm>
            <a:off x="3998265" y="26517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Router</a:t>
            </a:r>
            <a:endParaRPr lang="vi-VN" sz="1400" noProof="1"/>
          </a:p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gia đình</a:t>
            </a:r>
            <a:endParaRPr lang="vi-VN" sz="1400" noProof="1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D180193E-64B9-EF8D-4338-234434E17C24}"/>
              </a:ext>
            </a:extLst>
          </p:cNvPr>
          <p:cNvSpPr/>
          <p:nvPr/>
        </p:nvSpPr>
        <p:spPr>
          <a:xfrm>
            <a:off x="5461305" y="3086100"/>
            <a:ext cx="502920" cy="0"/>
          </a:xfrm>
          <a:prstGeom prst="line">
            <a:avLst/>
          </a:prstGeom>
          <a:noFill/>
          <a:ln w="31750">
            <a:solidFill>
              <a:srgbClr val="4D1434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03D33051-75C3-97B2-994E-28B5E89A80C2}"/>
              </a:ext>
            </a:extLst>
          </p:cNvPr>
          <p:cNvSpPr/>
          <p:nvPr/>
        </p:nvSpPr>
        <p:spPr>
          <a:xfrm>
            <a:off x="5964225" y="265176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DEE8428E-43DB-69F8-93C6-CB484F50C3F6}"/>
              </a:ext>
            </a:extLst>
          </p:cNvPr>
          <p:cNvSpPr/>
          <p:nvPr/>
        </p:nvSpPr>
        <p:spPr>
          <a:xfrm>
            <a:off x="6073953" y="2834640"/>
            <a:ext cx="502920" cy="50292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29" name="Image 2" descr="icons/cloud_white.png">
            <a:extLst>
              <a:ext uri="{FF2B5EF4-FFF2-40B4-BE49-F238E27FC236}">
                <a16:creationId xmlns:a16="http://schemas.microsoft.com/office/drawing/2014/main" id="{3B5E65A6-D739-6DA5-83FC-DD2B37987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654" y="2955341"/>
            <a:ext cx="261518" cy="261518"/>
          </a:xfrm>
          <a:prstGeom prst="rect">
            <a:avLst/>
          </a:prstGeom>
        </p:spPr>
      </p:pic>
      <p:sp>
        <p:nvSpPr>
          <p:cNvPr id="31" name="Text 12">
            <a:extLst>
              <a:ext uri="{FF2B5EF4-FFF2-40B4-BE49-F238E27FC236}">
                <a16:creationId xmlns:a16="http://schemas.microsoft.com/office/drawing/2014/main" id="{91C58909-2F23-30D0-9412-6EB30A96A1EF}"/>
              </a:ext>
            </a:extLst>
          </p:cNvPr>
          <p:cNvSpPr/>
          <p:nvPr/>
        </p:nvSpPr>
        <p:spPr>
          <a:xfrm>
            <a:off x="6650025" y="26517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Cloud Server</a:t>
            </a:r>
            <a:endParaRPr lang="vi-VN" sz="1400" noProof="1"/>
          </a:p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của hãng</a:t>
            </a:r>
            <a:endParaRPr lang="vi-VN" sz="1400" noProof="1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7C724DB2-43A9-F851-78DC-0581AC86CECB}"/>
              </a:ext>
            </a:extLst>
          </p:cNvPr>
          <p:cNvSpPr/>
          <p:nvPr/>
        </p:nvSpPr>
        <p:spPr>
          <a:xfrm>
            <a:off x="8113065" y="3086100"/>
            <a:ext cx="502920" cy="0"/>
          </a:xfrm>
          <a:prstGeom prst="line">
            <a:avLst/>
          </a:prstGeom>
          <a:noFill/>
          <a:ln w="31750">
            <a:solidFill>
              <a:srgbClr val="4D1434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7915B918-9162-9BDC-2086-853CA8438737}"/>
              </a:ext>
            </a:extLst>
          </p:cNvPr>
          <p:cNvSpPr/>
          <p:nvPr/>
        </p:nvSpPr>
        <p:spPr>
          <a:xfrm>
            <a:off x="8615985" y="265176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59962F27-7763-5630-62CB-6B343019F514}"/>
              </a:ext>
            </a:extLst>
          </p:cNvPr>
          <p:cNvSpPr/>
          <p:nvPr/>
        </p:nvSpPr>
        <p:spPr>
          <a:xfrm>
            <a:off x="8725713" y="2834640"/>
            <a:ext cx="502920" cy="50292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39" name="Image 3" descr="icons/mobile_white.png">
            <a:extLst>
              <a:ext uri="{FF2B5EF4-FFF2-40B4-BE49-F238E27FC236}">
                <a16:creationId xmlns:a16="http://schemas.microsoft.com/office/drawing/2014/main" id="{12739825-7BBC-A3F0-B71D-D72B1A86F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6414" y="2955341"/>
            <a:ext cx="261518" cy="261518"/>
          </a:xfrm>
          <a:prstGeom prst="rect">
            <a:avLst/>
          </a:prstGeom>
        </p:spPr>
      </p:pic>
      <p:sp>
        <p:nvSpPr>
          <p:cNvPr id="41" name="Text 16">
            <a:extLst>
              <a:ext uri="{FF2B5EF4-FFF2-40B4-BE49-F238E27FC236}">
                <a16:creationId xmlns:a16="http://schemas.microsoft.com/office/drawing/2014/main" id="{C6AFB155-D769-804A-1732-25D3AD527E38}"/>
              </a:ext>
            </a:extLst>
          </p:cNvPr>
          <p:cNvSpPr/>
          <p:nvPr/>
        </p:nvSpPr>
        <p:spPr>
          <a:xfrm>
            <a:off x="9301785" y="26517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App</a:t>
            </a:r>
            <a:endParaRPr lang="vi-VN" sz="1400" noProof="1"/>
          </a:p>
          <a:p>
            <a:pPr marL="0" indent="0">
              <a:lnSpc>
                <a:spcPct val="100000"/>
              </a:lnSpc>
              <a:buNone/>
            </a:pPr>
            <a:r>
              <a:rPr lang="vi-VN" sz="140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di động</a:t>
            </a:r>
            <a:endParaRPr lang="vi-VN" sz="1400" noProof="1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9FDC38D8-2AB2-381D-8AF6-3693811BB30A}"/>
              </a:ext>
            </a:extLst>
          </p:cNvPr>
          <p:cNvSpPr/>
          <p:nvPr/>
        </p:nvSpPr>
        <p:spPr>
          <a:xfrm>
            <a:off x="426720" y="4532919"/>
            <a:ext cx="1298448" cy="1417320"/>
          </a:xfrm>
          <a:prstGeom prst="roundRect">
            <a:avLst>
              <a:gd name="adj" fmla="val 4225"/>
            </a:avLst>
          </a:prstGeom>
          <a:ln>
            <a:solidFill>
              <a:srgbClr val="4D143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vi-VN" noProof="1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B8A24FF9-7444-44BD-9053-0F103EED6338}"/>
              </a:ext>
            </a:extLst>
          </p:cNvPr>
          <p:cNvSpPr/>
          <p:nvPr/>
        </p:nvSpPr>
        <p:spPr>
          <a:xfrm>
            <a:off x="893064" y="4670079"/>
            <a:ext cx="365760" cy="36576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C4F81CA2-4446-B9FD-36EF-B90FA60D94AB}"/>
              </a:ext>
            </a:extLst>
          </p:cNvPr>
          <p:cNvSpPr/>
          <p:nvPr/>
        </p:nvSpPr>
        <p:spPr>
          <a:xfrm>
            <a:off x="89306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vi-VN" sz="1400" noProof="1">
              <a:solidFill>
                <a:srgbClr val="FFFFFF"/>
              </a:solidFill>
            </a:endParaRPr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17CECBEC-3E07-BBAB-9EC6-6F78DF9A1880}"/>
              </a:ext>
            </a:extLst>
          </p:cNvPr>
          <p:cNvSpPr/>
          <p:nvPr/>
        </p:nvSpPr>
        <p:spPr>
          <a:xfrm>
            <a:off x="48158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Chuẩn bị &amp;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Scoping</a:t>
            </a:r>
            <a:endParaRPr lang="vi-VN" sz="1050" noProof="1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6B86234E-9FE3-6418-5045-6DF68BEA6296}"/>
              </a:ext>
            </a:extLst>
          </p:cNvPr>
          <p:cNvSpPr/>
          <p:nvPr/>
        </p:nvSpPr>
        <p:spPr>
          <a:xfrm>
            <a:off x="172516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582D1506-DB1D-9E0A-0533-9DE52FB14FF1}"/>
              </a:ext>
            </a:extLst>
          </p:cNvPr>
          <p:cNvSpPr/>
          <p:nvPr/>
        </p:nvSpPr>
        <p:spPr>
          <a:xfrm>
            <a:off x="1844040" y="4532919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4D143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0972E178-BAB9-CEF2-5259-7E31A7D1F34C}"/>
              </a:ext>
            </a:extLst>
          </p:cNvPr>
          <p:cNvSpPr/>
          <p:nvPr/>
        </p:nvSpPr>
        <p:spPr>
          <a:xfrm>
            <a:off x="2310384" y="4670079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42FDE3DE-B195-9385-BE35-174D984968F5}"/>
              </a:ext>
            </a:extLst>
          </p:cNvPr>
          <p:cNvSpPr/>
          <p:nvPr/>
        </p:nvSpPr>
        <p:spPr>
          <a:xfrm>
            <a:off x="231038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vi-VN" sz="1400" noProof="1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7AB519DC-8BEE-73A7-1126-6DECEBE2DA14}"/>
              </a:ext>
            </a:extLst>
          </p:cNvPr>
          <p:cNvSpPr/>
          <p:nvPr/>
        </p:nvSpPr>
        <p:spPr>
          <a:xfrm>
            <a:off x="189890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Mô hình hóa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Mối đe dọa</a:t>
            </a:r>
            <a:endParaRPr lang="vi-VN" sz="1050" noProof="1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C3C9791B-86A7-E1BA-E01C-BBEB498C296D}"/>
              </a:ext>
            </a:extLst>
          </p:cNvPr>
          <p:cNvSpPr/>
          <p:nvPr/>
        </p:nvSpPr>
        <p:spPr>
          <a:xfrm>
            <a:off x="314248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7B029A7A-51CF-A051-4809-F215E4953CCF}"/>
              </a:ext>
            </a:extLst>
          </p:cNvPr>
          <p:cNvSpPr/>
          <p:nvPr/>
        </p:nvSpPr>
        <p:spPr>
          <a:xfrm>
            <a:off x="3261360" y="4532919"/>
            <a:ext cx="1298448" cy="1417320"/>
          </a:xfrm>
          <a:prstGeom prst="roundRect">
            <a:avLst>
              <a:gd name="adj" fmla="val 4225"/>
            </a:avLst>
          </a:prstGeom>
          <a:ln>
            <a:solidFill>
              <a:srgbClr val="4D143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vi-VN" noProof="1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39F34D68-CDED-9108-5953-2ED8CD8CB958}"/>
              </a:ext>
            </a:extLst>
          </p:cNvPr>
          <p:cNvSpPr/>
          <p:nvPr/>
        </p:nvSpPr>
        <p:spPr>
          <a:xfrm>
            <a:off x="3727704" y="4670079"/>
            <a:ext cx="365760" cy="36576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1CEBEAA1-E35C-878E-FECB-7B312F07C307}"/>
              </a:ext>
            </a:extLst>
          </p:cNvPr>
          <p:cNvSpPr/>
          <p:nvPr/>
        </p:nvSpPr>
        <p:spPr>
          <a:xfrm>
            <a:off x="372770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vi-VN" sz="1400" noProof="1">
              <a:solidFill>
                <a:srgbClr val="FFFFFF"/>
              </a:solidFill>
            </a:endParaRPr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5200976-234A-AC0F-87B5-0A9FE0A65AB1}"/>
              </a:ext>
            </a:extLst>
          </p:cNvPr>
          <p:cNvSpPr/>
          <p:nvPr/>
        </p:nvSpPr>
        <p:spPr>
          <a:xfrm>
            <a:off x="331622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Test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Phần cứng</a:t>
            </a:r>
            <a:endParaRPr lang="vi-VN" sz="1050" noProof="1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A947CF2C-A38C-D9CF-983C-503D1F4310FE}"/>
              </a:ext>
            </a:extLst>
          </p:cNvPr>
          <p:cNvSpPr/>
          <p:nvPr/>
        </p:nvSpPr>
        <p:spPr>
          <a:xfrm>
            <a:off x="455980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97C6985F-5DF1-7F4F-7D31-B4C127A982B8}"/>
              </a:ext>
            </a:extLst>
          </p:cNvPr>
          <p:cNvSpPr/>
          <p:nvPr/>
        </p:nvSpPr>
        <p:spPr>
          <a:xfrm>
            <a:off x="4678680" y="4532919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4D143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75" name="Shape 35">
            <a:extLst>
              <a:ext uri="{FF2B5EF4-FFF2-40B4-BE49-F238E27FC236}">
                <a16:creationId xmlns:a16="http://schemas.microsoft.com/office/drawing/2014/main" id="{0D0AFDD0-BFB2-2C76-ACBF-3546A11A378B}"/>
              </a:ext>
            </a:extLst>
          </p:cNvPr>
          <p:cNvSpPr/>
          <p:nvPr/>
        </p:nvSpPr>
        <p:spPr>
          <a:xfrm>
            <a:off x="5145024" y="4670079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EB6D897F-6D70-76DB-E1ED-6941EB9FF6E3}"/>
              </a:ext>
            </a:extLst>
          </p:cNvPr>
          <p:cNvSpPr/>
          <p:nvPr/>
        </p:nvSpPr>
        <p:spPr>
          <a:xfrm>
            <a:off x="514502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vi-VN" sz="1400" noProof="1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7E876303-657C-C982-99BE-915BF3454332}"/>
              </a:ext>
            </a:extLst>
          </p:cNvPr>
          <p:cNvSpPr/>
          <p:nvPr/>
        </p:nvSpPr>
        <p:spPr>
          <a:xfrm>
            <a:off x="473354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Test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firmware</a:t>
            </a:r>
            <a:endParaRPr lang="vi-VN" sz="1050" noProof="1"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EEA009E7-B235-A6EB-EED7-A45DEB32E5D0}"/>
              </a:ext>
            </a:extLst>
          </p:cNvPr>
          <p:cNvSpPr/>
          <p:nvPr/>
        </p:nvSpPr>
        <p:spPr>
          <a:xfrm>
            <a:off x="597712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F14C6454-280C-6E77-32D6-F9A920D0E4BF}"/>
              </a:ext>
            </a:extLst>
          </p:cNvPr>
          <p:cNvSpPr/>
          <p:nvPr/>
        </p:nvSpPr>
        <p:spPr>
          <a:xfrm>
            <a:off x="6096000" y="4532919"/>
            <a:ext cx="1298448" cy="1417320"/>
          </a:xfrm>
          <a:prstGeom prst="roundRect">
            <a:avLst>
              <a:gd name="adj" fmla="val 4225"/>
            </a:avLst>
          </a:prstGeom>
          <a:ln>
            <a:solidFill>
              <a:srgbClr val="4D143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vi-VN" noProof="1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7D1578BE-9A5B-87CA-8D06-AAEEF4A355E6}"/>
              </a:ext>
            </a:extLst>
          </p:cNvPr>
          <p:cNvSpPr/>
          <p:nvPr/>
        </p:nvSpPr>
        <p:spPr>
          <a:xfrm>
            <a:off x="6562344" y="4670079"/>
            <a:ext cx="365760" cy="36576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2D0DE959-7D9E-C3CC-4BFB-3EF61B9BB466}"/>
              </a:ext>
            </a:extLst>
          </p:cNvPr>
          <p:cNvSpPr/>
          <p:nvPr/>
        </p:nvSpPr>
        <p:spPr>
          <a:xfrm>
            <a:off x="656234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vi-VN" sz="1400" noProof="1">
              <a:solidFill>
                <a:srgbClr val="FFFFFF"/>
              </a:solidFill>
            </a:endParaRPr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B3D33AFD-46C3-1F0A-1ECF-CEB8FE5F94BB}"/>
              </a:ext>
            </a:extLst>
          </p:cNvPr>
          <p:cNvSpPr/>
          <p:nvPr/>
        </p:nvSpPr>
        <p:spPr>
          <a:xfrm>
            <a:off x="615086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Test mạng &amp;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giao thức</a:t>
            </a:r>
            <a:endParaRPr lang="vi-VN" sz="1050" noProof="1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3DA91E64-FF39-9876-121D-14C3C33EDE77}"/>
              </a:ext>
            </a:extLst>
          </p:cNvPr>
          <p:cNvSpPr/>
          <p:nvPr/>
        </p:nvSpPr>
        <p:spPr>
          <a:xfrm>
            <a:off x="739444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93" name="Shape 44">
            <a:extLst>
              <a:ext uri="{FF2B5EF4-FFF2-40B4-BE49-F238E27FC236}">
                <a16:creationId xmlns:a16="http://schemas.microsoft.com/office/drawing/2014/main" id="{2D3500F2-2413-466D-CBCC-AF627F62786F}"/>
              </a:ext>
            </a:extLst>
          </p:cNvPr>
          <p:cNvSpPr/>
          <p:nvPr/>
        </p:nvSpPr>
        <p:spPr>
          <a:xfrm>
            <a:off x="7513320" y="4532919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4D143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95" name="Shape 45">
            <a:extLst>
              <a:ext uri="{FF2B5EF4-FFF2-40B4-BE49-F238E27FC236}">
                <a16:creationId xmlns:a16="http://schemas.microsoft.com/office/drawing/2014/main" id="{FD76B618-ECB5-3470-C47B-CFE14778D4A0}"/>
              </a:ext>
            </a:extLst>
          </p:cNvPr>
          <p:cNvSpPr/>
          <p:nvPr/>
        </p:nvSpPr>
        <p:spPr>
          <a:xfrm>
            <a:off x="7979664" y="4670079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3E7D6109-AC8E-9DBB-7D6E-87BF29E2FE26}"/>
              </a:ext>
            </a:extLst>
          </p:cNvPr>
          <p:cNvSpPr/>
          <p:nvPr/>
        </p:nvSpPr>
        <p:spPr>
          <a:xfrm>
            <a:off x="797966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vi-VN" sz="1400" noProof="1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4D448C85-4ACD-E3E5-66A9-1A7A4A7EE552}"/>
              </a:ext>
            </a:extLst>
          </p:cNvPr>
          <p:cNvSpPr/>
          <p:nvPr/>
        </p:nvSpPr>
        <p:spPr>
          <a:xfrm>
            <a:off x="756818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Test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API/Cloud</a:t>
            </a:r>
            <a:endParaRPr lang="vi-VN" sz="1050" noProof="1"/>
          </a:p>
        </p:txBody>
      </p:sp>
      <p:sp>
        <p:nvSpPr>
          <p:cNvPr id="101" name="Shape 48">
            <a:extLst>
              <a:ext uri="{FF2B5EF4-FFF2-40B4-BE49-F238E27FC236}">
                <a16:creationId xmlns:a16="http://schemas.microsoft.com/office/drawing/2014/main" id="{6D1FC2F1-B321-F83E-B5A3-06235400F9BB}"/>
              </a:ext>
            </a:extLst>
          </p:cNvPr>
          <p:cNvSpPr/>
          <p:nvPr/>
        </p:nvSpPr>
        <p:spPr>
          <a:xfrm>
            <a:off x="881176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99E22090-130D-3E8D-1FAD-CA285BC5F077}"/>
              </a:ext>
            </a:extLst>
          </p:cNvPr>
          <p:cNvSpPr/>
          <p:nvPr/>
        </p:nvSpPr>
        <p:spPr>
          <a:xfrm>
            <a:off x="8930640" y="4532919"/>
            <a:ext cx="1298448" cy="1417320"/>
          </a:xfrm>
          <a:prstGeom prst="roundRect">
            <a:avLst>
              <a:gd name="adj" fmla="val 4225"/>
            </a:avLst>
          </a:prstGeom>
          <a:ln>
            <a:solidFill>
              <a:srgbClr val="4D143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vi-VN" noProof="1"/>
          </a:p>
        </p:txBody>
      </p:sp>
      <p:sp>
        <p:nvSpPr>
          <p:cNvPr id="105" name="Shape 50">
            <a:extLst>
              <a:ext uri="{FF2B5EF4-FFF2-40B4-BE49-F238E27FC236}">
                <a16:creationId xmlns:a16="http://schemas.microsoft.com/office/drawing/2014/main" id="{ADB8FEC6-322E-930B-1D9F-FB2E778B357A}"/>
              </a:ext>
            </a:extLst>
          </p:cNvPr>
          <p:cNvSpPr/>
          <p:nvPr/>
        </p:nvSpPr>
        <p:spPr>
          <a:xfrm>
            <a:off x="9396984" y="4670079"/>
            <a:ext cx="365760" cy="365760"/>
          </a:xfrm>
          <a:prstGeom prst="ellipse">
            <a:avLst/>
          </a:prstGeom>
          <a:solidFill>
            <a:srgbClr val="4D143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5BFB38C7-E085-B69A-54F3-2BBB9AD24A6F}"/>
              </a:ext>
            </a:extLst>
          </p:cNvPr>
          <p:cNvSpPr/>
          <p:nvPr/>
        </p:nvSpPr>
        <p:spPr>
          <a:xfrm>
            <a:off x="939698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vi-VN" sz="1400" noProof="1">
              <a:solidFill>
                <a:srgbClr val="FFFFFF"/>
              </a:solidFill>
            </a:endParaRPr>
          </a:p>
        </p:txBody>
      </p:sp>
      <p:sp>
        <p:nvSpPr>
          <p:cNvPr id="109" name="Text 52">
            <a:extLst>
              <a:ext uri="{FF2B5EF4-FFF2-40B4-BE49-F238E27FC236}">
                <a16:creationId xmlns:a16="http://schemas.microsoft.com/office/drawing/2014/main" id="{61BDBED8-BCF1-422B-038A-8942E85B7742}"/>
              </a:ext>
            </a:extLst>
          </p:cNvPr>
          <p:cNvSpPr/>
          <p:nvPr/>
        </p:nvSpPr>
        <p:spPr>
          <a:xfrm>
            <a:off x="898550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Test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ea typeface="Calibri" pitchFamily="34" charset="-122"/>
                <a:cs typeface="Calibri" pitchFamily="34" charset="-120"/>
              </a:rPr>
              <a:t>mobile app</a:t>
            </a:r>
            <a:endParaRPr lang="vi-VN" sz="1050" noProof="1"/>
          </a:p>
        </p:txBody>
      </p:sp>
      <p:sp>
        <p:nvSpPr>
          <p:cNvPr id="111" name="Shape 53">
            <a:extLst>
              <a:ext uri="{FF2B5EF4-FFF2-40B4-BE49-F238E27FC236}">
                <a16:creationId xmlns:a16="http://schemas.microsoft.com/office/drawing/2014/main" id="{5AB21719-0E74-0766-BD03-1C0BD1036C5C}"/>
              </a:ext>
            </a:extLst>
          </p:cNvPr>
          <p:cNvSpPr/>
          <p:nvPr/>
        </p:nvSpPr>
        <p:spPr>
          <a:xfrm>
            <a:off x="10229088" y="5241579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13" name="Shape 54">
            <a:extLst>
              <a:ext uri="{FF2B5EF4-FFF2-40B4-BE49-F238E27FC236}">
                <a16:creationId xmlns:a16="http://schemas.microsoft.com/office/drawing/2014/main" id="{887D61D9-9F85-85EE-482A-15083ECC612D}"/>
              </a:ext>
            </a:extLst>
          </p:cNvPr>
          <p:cNvSpPr/>
          <p:nvPr/>
        </p:nvSpPr>
        <p:spPr>
          <a:xfrm>
            <a:off x="10347960" y="4532919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4D143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115" name="Shape 55">
            <a:extLst>
              <a:ext uri="{FF2B5EF4-FFF2-40B4-BE49-F238E27FC236}">
                <a16:creationId xmlns:a16="http://schemas.microsoft.com/office/drawing/2014/main" id="{D0371E29-CB7E-98E8-5F18-B9D226822E68}"/>
              </a:ext>
            </a:extLst>
          </p:cNvPr>
          <p:cNvSpPr/>
          <p:nvPr/>
        </p:nvSpPr>
        <p:spPr>
          <a:xfrm>
            <a:off x="10814304" y="4670079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17" name="Text 56">
            <a:extLst>
              <a:ext uri="{FF2B5EF4-FFF2-40B4-BE49-F238E27FC236}">
                <a16:creationId xmlns:a16="http://schemas.microsoft.com/office/drawing/2014/main" id="{1C22F284-50FC-4C0A-C600-A4AEFBC49517}"/>
              </a:ext>
            </a:extLst>
          </p:cNvPr>
          <p:cNvSpPr/>
          <p:nvPr/>
        </p:nvSpPr>
        <p:spPr>
          <a:xfrm>
            <a:off x="10814304" y="467007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vi-VN" sz="1400" noProof="1"/>
          </a:p>
        </p:txBody>
      </p:sp>
      <p:sp>
        <p:nvSpPr>
          <p:cNvPr id="119" name="Text 57">
            <a:extLst>
              <a:ext uri="{FF2B5EF4-FFF2-40B4-BE49-F238E27FC236}">
                <a16:creationId xmlns:a16="http://schemas.microsoft.com/office/drawing/2014/main" id="{75989120-EF7D-A3E9-45A4-7F0903F80770}"/>
              </a:ext>
            </a:extLst>
          </p:cNvPr>
          <p:cNvSpPr/>
          <p:nvPr/>
        </p:nvSpPr>
        <p:spPr>
          <a:xfrm>
            <a:off x="10402824" y="5127279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cơ chế</a:t>
            </a:r>
            <a:endParaRPr lang="vi-VN" sz="1050" noProof="1"/>
          </a:p>
          <a:p>
            <a:pPr marL="0" indent="0" algn="ctr">
              <a:lnSpc>
                <a:spcPct val="105000"/>
              </a:lnSpc>
              <a:buNone/>
            </a:pPr>
            <a:r>
              <a:rPr lang="vi-VN" sz="10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câp </a:t>
            </a:r>
            <a:r>
              <a:rPr lang="vi-VN" sz="1050" noProof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nhật</a:t>
            </a:r>
            <a:endParaRPr lang="vi-VN" sz="1050" noProof="1"/>
          </a:p>
        </p:txBody>
      </p:sp>
    </p:spTree>
    <p:extLst>
      <p:ext uri="{BB962C8B-B14F-4D97-AF65-F5344CB8AC3E}">
        <p14:creationId xmlns:p14="http://schemas.microsoft.com/office/powerpoint/2010/main" val="299785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2585F-DB7C-060C-7DAF-5A9E8EE7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quả chính (1/2): checklist kiểm thử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7A96-E81F-6A77-30A7-7D3FAD6B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3" y="1922079"/>
            <a:ext cx="4880114" cy="453373"/>
          </a:xfrm>
        </p:spPr>
        <p:txBody>
          <a:bodyPr numCol="2" anchor="t"/>
          <a:lstStyle/>
          <a:p>
            <a:pPr marL="0" indent="0">
              <a:buNone/>
            </a:pPr>
            <a:r>
              <a:rPr lang="vi-VN" b="1" noProof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Tỷ lệ đạt theo nhóm (25 tiêu chí)</a:t>
            </a:r>
            <a:endParaRPr lang="vi-VN" noProof="1">
              <a:solidFill>
                <a:schemeClr val="tx1"/>
              </a:solidFill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01C1FC2F-F700-6103-7354-1C62ED5B96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9529144"/>
              </p:ext>
            </p:extLst>
          </p:nvPr>
        </p:nvGraphicFramePr>
        <p:xfrm>
          <a:off x="308113" y="2510887"/>
          <a:ext cx="5577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B462D05-B399-A611-B589-8A68CF844115}"/>
              </a:ext>
            </a:extLst>
          </p:cNvPr>
          <p:cNvSpPr txBox="1"/>
          <p:nvPr/>
        </p:nvSpPr>
        <p:spPr>
          <a:xfrm>
            <a:off x="6096000" y="1922079"/>
            <a:ext cx="516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noProof="1">
                <a:ea typeface="Calibri" pitchFamily="34" charset="-122"/>
                <a:cs typeface="Calibri" pitchFamily="34" charset="-120"/>
              </a:rPr>
              <a:t>Trích checklist (5/25 tiêu chí tiêu biểu)</a:t>
            </a:r>
            <a:endParaRPr lang="vi-VN" noProof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02411E-7377-1FD7-4B07-DF57EDA8E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749925"/>
              </p:ext>
            </p:extLst>
          </p:nvPr>
        </p:nvGraphicFramePr>
        <p:xfrm>
          <a:off x="6096000" y="2520826"/>
          <a:ext cx="5257800" cy="30175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301360303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163467925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39159311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point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T.thái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5002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credential hard-code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đạt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6824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Mạng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RTSP/stream video có mã hóa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đạt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18863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API/Cloud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kiểm tra quyền theo device_id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đạt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9818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lưu Keystore/Keychain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2336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hash/chứ ký trước khi cài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050" noProof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đạt</a:t>
                      </a:r>
                      <a:endParaRPr lang="vi-VN" sz="105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665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76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FABC-CB2B-0629-9AC6-1A6094A1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quả chính (2/2): finding &amp; ma trận rủi 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BB50-E4BC-0033-3C33-1034824F6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1932018"/>
            <a:ext cx="4621697" cy="3678303"/>
          </a:xfrm>
        </p:spPr>
        <p:txBody>
          <a:bodyPr anchor="t"/>
          <a:lstStyle/>
          <a:p>
            <a:pPr marL="0" indent="0">
              <a:buNone/>
            </a:pPr>
            <a:r>
              <a:rPr lang="vi-VN" b="1" noProof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5 finding theo mức độ ưu tiên (risk score = severity x likelihood)</a:t>
            </a:r>
            <a:endParaRPr lang="vi-VN" noProof="1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0CACAA-7657-3813-9407-C2797E922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20059"/>
              </p:ext>
            </p:extLst>
          </p:nvPr>
        </p:nvGraphicFramePr>
        <p:xfrm>
          <a:off x="84069" y="2653265"/>
          <a:ext cx="6675120" cy="2804160"/>
        </p:xfrm>
        <a:graphic>
          <a:graphicData uri="http://schemas.openxmlformats.org/drawingml/2006/table">
            <a:tbl>
              <a:tblPr bandRow="1"/>
              <a:tblGrid>
                <a:gridCol w="1051560">
                  <a:extLst>
                    <a:ext uri="{9D8B030D-6E8A-4147-A177-3AD203B41FA5}">
                      <a16:colId xmlns:a16="http://schemas.microsoft.com/office/drawing/2014/main" val="385840527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924004509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35599668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81368029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5143335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 tiên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93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FIND-003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API/Cloud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kiểm tra quyền sở hữu thiết bị (BOLA)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cao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4894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FIND-005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 không kiểm tra chu kỳ firmware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3925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FIND-001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dang ro trong cấu hình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536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FIND-004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bỏ qua lỗi certificate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T.binh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127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FIND-002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RTSP video không mã hóa nội bộ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400" b="1" noProof="1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vi-VN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24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D8417E-7BF3-833E-2323-77F70A01DEAE}"/>
              </a:ext>
            </a:extLst>
          </p:cNvPr>
          <p:cNvSpPr txBox="1"/>
          <p:nvPr/>
        </p:nvSpPr>
        <p:spPr>
          <a:xfrm>
            <a:off x="6872357" y="201086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b="1" noProof="1">
                <a:ea typeface="Calibri" pitchFamily="34" charset="-122"/>
                <a:cs typeface="Calibri" pitchFamily="34" charset="-120"/>
              </a:rPr>
              <a:t>Ma tran rui ro (Likelihood x Severity)</a:t>
            </a:r>
            <a:endParaRPr lang="vi-VN" sz="1800" noProof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B16147-EAE5-E19F-31F7-7C018A32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139381"/>
              </p:ext>
            </p:extLst>
          </p:nvPr>
        </p:nvGraphicFramePr>
        <p:xfrm>
          <a:off x="6872357" y="2643809"/>
          <a:ext cx="5124176" cy="27191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1044">
                  <a:extLst>
                    <a:ext uri="{9D8B030D-6E8A-4147-A177-3AD203B41FA5}">
                      <a16:colId xmlns:a16="http://schemas.microsoft.com/office/drawing/2014/main" val="3472659027"/>
                    </a:ext>
                  </a:extLst>
                </a:gridCol>
                <a:gridCol w="1281044">
                  <a:extLst>
                    <a:ext uri="{9D8B030D-6E8A-4147-A177-3AD203B41FA5}">
                      <a16:colId xmlns:a16="http://schemas.microsoft.com/office/drawing/2014/main" val="321666594"/>
                    </a:ext>
                  </a:extLst>
                </a:gridCol>
                <a:gridCol w="1281044">
                  <a:extLst>
                    <a:ext uri="{9D8B030D-6E8A-4147-A177-3AD203B41FA5}">
                      <a16:colId xmlns:a16="http://schemas.microsoft.com/office/drawing/2014/main" val="713468250"/>
                    </a:ext>
                  </a:extLst>
                </a:gridCol>
                <a:gridCol w="1281044">
                  <a:extLst>
                    <a:ext uri="{9D8B030D-6E8A-4147-A177-3AD203B41FA5}">
                      <a16:colId xmlns:a16="http://schemas.microsoft.com/office/drawing/2014/main" val="28128373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vi-VN" sz="1400" dirty="0"/>
                        <a:t>Ảnh hưởng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/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/>
                        <a:t>Cao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/>
                        <a:t>N.trọng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597914"/>
                  </a:ext>
                </a:extLst>
              </a:tr>
              <a:tr h="753995"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chemeClr val="bg1"/>
                          </a:solidFill>
                        </a:rPr>
                        <a:t>Cao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rgbClr val="FF0000"/>
                          </a:solidFill>
                        </a:rPr>
                        <a:t>FIND-002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80587"/>
                  </a:ext>
                </a:extLst>
              </a:tr>
              <a:tr h="753995"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chemeClr val="bg1"/>
                          </a:solidFill>
                        </a:rPr>
                        <a:t>TB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rgbClr val="FF0000"/>
                          </a:solidFill>
                        </a:rPr>
                        <a:t>FIND-001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rgbClr val="FF0000"/>
                          </a:solidFill>
                        </a:rPr>
                        <a:t>FIND-003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23549"/>
                  </a:ext>
                </a:extLst>
              </a:tr>
              <a:tr h="753995"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chemeClr val="bg1"/>
                          </a:solidFill>
                        </a:rPr>
                        <a:t>Thấp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rgbClr val="FF0000"/>
                          </a:solidFill>
                        </a:rPr>
                        <a:t>FIND-004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dirty="0">
                          <a:solidFill>
                            <a:srgbClr val="FF0000"/>
                          </a:solidFill>
                        </a:rPr>
                        <a:t>FIND-005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713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80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5919-3F45-6856-A3E1-595C8206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Đánh giá, hạn chế &amp; hướng phát triển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3A42B41-189A-2DE1-9A1E-33D69E302B9F}"/>
              </a:ext>
            </a:extLst>
          </p:cNvPr>
          <p:cNvSpPr/>
          <p:nvPr/>
        </p:nvSpPr>
        <p:spPr>
          <a:xfrm>
            <a:off x="581192" y="1918252"/>
            <a:ext cx="3549824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B47EAE7-2DA3-8275-1FD7-F4D8343C6F6A}"/>
              </a:ext>
            </a:extLst>
          </p:cNvPr>
          <p:cNvSpPr/>
          <p:nvPr/>
        </p:nvSpPr>
        <p:spPr>
          <a:xfrm>
            <a:off x="1971884" y="2192572"/>
            <a:ext cx="718952" cy="7315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10" name="Image 0" descr="icons/check_white.png">
            <a:extLst>
              <a:ext uri="{FF2B5EF4-FFF2-40B4-BE49-F238E27FC236}">
                <a16:creationId xmlns:a16="http://schemas.microsoft.com/office/drawing/2014/main" id="{F1BF5602-0CE4-2AF1-F7C3-6EBDCC35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417" y="2368137"/>
            <a:ext cx="373854" cy="380390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4C5C24C5-DC7B-FB34-49FD-C14BA60A43BB}"/>
              </a:ext>
            </a:extLst>
          </p:cNvPr>
          <p:cNvSpPr/>
          <p:nvPr/>
        </p:nvSpPr>
        <p:spPr>
          <a:xfrm>
            <a:off x="713638" y="3061252"/>
            <a:ext cx="3280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550" b="1" noProof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vi-VN" sz="1550" noProof="1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AD1A88B-6753-D5EC-0C67-10C335D0C757}"/>
              </a:ext>
            </a:extLst>
          </p:cNvPr>
          <p:cNvSpPr/>
          <p:nvPr/>
        </p:nvSpPr>
        <p:spPr>
          <a:xfrm>
            <a:off x="891020" y="3609892"/>
            <a:ext cx="29656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8 bước bao phủ 6 lớp kiến trúc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25 tiêu chí ánh xạ ISVS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báo cáo + ma trận rủi ro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tự động hóa sinh báo cáo</a:t>
            </a:r>
            <a:endParaRPr lang="vi-VN" sz="1150" noProof="1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B774E5D-A71F-4B49-4589-68A2D4BE8C87}"/>
              </a:ext>
            </a:extLst>
          </p:cNvPr>
          <p:cNvSpPr/>
          <p:nvPr/>
        </p:nvSpPr>
        <p:spPr>
          <a:xfrm>
            <a:off x="4321088" y="1918252"/>
            <a:ext cx="3549824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8612319-F2CD-B849-EC56-CC79C135093E}"/>
              </a:ext>
            </a:extLst>
          </p:cNvPr>
          <p:cNvSpPr/>
          <p:nvPr/>
        </p:nvSpPr>
        <p:spPr>
          <a:xfrm>
            <a:off x="5711780" y="2192572"/>
            <a:ext cx="718952" cy="7315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20" name="Image 1" descr="icons/balance_white.png">
            <a:extLst>
              <a:ext uri="{FF2B5EF4-FFF2-40B4-BE49-F238E27FC236}">
                <a16:creationId xmlns:a16="http://schemas.microsoft.com/office/drawing/2014/main" id="{6CEF8922-61C8-6B11-E27A-10E8520CB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313" y="2368137"/>
            <a:ext cx="373854" cy="38039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B03D72E4-2045-0EC9-E0F0-5E0C9C3DEE19}"/>
              </a:ext>
            </a:extLst>
          </p:cNvPr>
          <p:cNvSpPr/>
          <p:nvPr/>
        </p:nvSpPr>
        <p:spPr>
          <a:xfrm>
            <a:off x="4453534" y="3061252"/>
            <a:ext cx="3280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550" b="1" noProof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vi-VN" sz="1550" noProof="1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D361290-67FF-C24B-DA08-3166F8198E5A}"/>
              </a:ext>
            </a:extLst>
          </p:cNvPr>
          <p:cNvSpPr/>
          <p:nvPr/>
        </p:nvSpPr>
        <p:spPr>
          <a:xfrm>
            <a:off x="4630916" y="3609892"/>
            <a:ext cx="29656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là khung mẫu, cần tùy biến theo sản phẩm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thay thế pentest chuyên sâu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liẹu finding là giả lập, chưa kiểm chứng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rủi ro mang tính dinh tinh</a:t>
            </a:r>
            <a:endParaRPr lang="vi-VN" sz="1150" noProof="1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6A8F4504-8333-799C-7AB2-7D4C62BA7E66}"/>
              </a:ext>
            </a:extLst>
          </p:cNvPr>
          <p:cNvSpPr/>
          <p:nvPr/>
        </p:nvSpPr>
        <p:spPr>
          <a:xfrm>
            <a:off x="8060984" y="1918252"/>
            <a:ext cx="3549824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204E7D94-50C7-F4D8-09A2-F2AAA8FA9B9D}"/>
              </a:ext>
            </a:extLst>
          </p:cNvPr>
          <p:cNvSpPr/>
          <p:nvPr/>
        </p:nvSpPr>
        <p:spPr>
          <a:xfrm>
            <a:off x="9451676" y="2192572"/>
            <a:ext cx="718952" cy="73152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30" name="Image 2" descr="icons/bulb_white.png">
            <a:extLst>
              <a:ext uri="{FF2B5EF4-FFF2-40B4-BE49-F238E27FC236}">
                <a16:creationId xmlns:a16="http://schemas.microsoft.com/office/drawing/2014/main" id="{FE926D2D-6B93-0096-4BF5-817F47D25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209" y="2368137"/>
            <a:ext cx="373854" cy="380390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26F58FBA-5416-AF4D-4152-30C2F83745A6}"/>
              </a:ext>
            </a:extLst>
          </p:cNvPr>
          <p:cNvSpPr/>
          <p:nvPr/>
        </p:nvSpPr>
        <p:spPr>
          <a:xfrm>
            <a:off x="8193430" y="3061252"/>
            <a:ext cx="3280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550" b="1" noProof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vi-VN" sz="1550" noProof="1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7A14193-FF9F-7023-8332-6F96764FC829}"/>
              </a:ext>
            </a:extLst>
          </p:cNvPr>
          <p:cNvSpPr/>
          <p:nvPr/>
        </p:nvSpPr>
        <p:spPr>
          <a:xfrm>
            <a:off x="8370812" y="3609892"/>
            <a:ext cx="29656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thử trên thiết bị thật (được phép)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Mợ rộng script quản lý nhiều lần kiểm thử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ISO/IEC 27001, IEC 62443</a:t>
            </a:r>
            <a:endParaRPr lang="vi-VN" sz="1150" noProof="1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sang IIoT / thiết bị công nghiệp</a:t>
            </a:r>
            <a:endParaRPr lang="vi-VN" sz="1150" noProof="1"/>
          </a:p>
        </p:txBody>
      </p:sp>
    </p:spTree>
    <p:extLst>
      <p:ext uri="{BB962C8B-B14F-4D97-AF65-F5344CB8AC3E}">
        <p14:creationId xmlns:p14="http://schemas.microsoft.com/office/powerpoint/2010/main" val="290958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0874-826E-6F8B-FC06-FE2CD9E4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Phân tích rủi ro &amp; biện pháp phòng chống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3C6B9FF-018E-B705-35F5-03F39BA1A12F}"/>
              </a:ext>
            </a:extLst>
          </p:cNvPr>
          <p:cNvSpPr/>
          <p:nvPr/>
        </p:nvSpPr>
        <p:spPr>
          <a:xfrm>
            <a:off x="581192" y="1840727"/>
            <a:ext cx="11029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95E64E7-3E07-01B7-B1C0-87C1ED55B516}"/>
              </a:ext>
            </a:extLst>
          </p:cNvPr>
          <p:cNvSpPr/>
          <p:nvPr/>
        </p:nvSpPr>
        <p:spPr>
          <a:xfrm>
            <a:off x="764072" y="2014463"/>
            <a:ext cx="545570" cy="5486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9" name="Image 0" descr="icons/excircle_white.png">
            <a:extLst>
              <a:ext uri="{FF2B5EF4-FFF2-40B4-BE49-F238E27FC236}">
                <a16:creationId xmlns:a16="http://schemas.microsoft.com/office/drawing/2014/main" id="{8988078C-F9C5-2CB0-0BDB-4931715DE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46" y="2146137"/>
            <a:ext cx="283697" cy="285293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EEE0C9A2-4775-B773-6D2F-36A64BF004AB}"/>
              </a:ext>
            </a:extLst>
          </p:cNvPr>
          <p:cNvSpPr/>
          <p:nvPr/>
        </p:nvSpPr>
        <p:spPr>
          <a:xfrm>
            <a:off x="1495592" y="1913879"/>
            <a:ext cx="44554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vi-VN" sz="125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Truy cập chéo dữ liệu (FIND-003)</a:t>
            </a:r>
            <a:endParaRPr lang="vi-VN" sz="1250" noProof="1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AC0E051-6F6A-9519-15D3-278672802BBA}"/>
              </a:ext>
            </a:extLst>
          </p:cNvPr>
          <p:cNvSpPr/>
          <p:nvPr/>
        </p:nvSpPr>
        <p:spPr>
          <a:xfrm>
            <a:off x="6113312" y="1977887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pic>
        <p:nvPicPr>
          <p:cNvPr id="15" name="Image 1" descr="icons/check_teal.png">
            <a:extLst>
              <a:ext uri="{FF2B5EF4-FFF2-40B4-BE49-F238E27FC236}">
                <a16:creationId xmlns:a16="http://schemas.microsoft.com/office/drawing/2014/main" id="{1383D71C-1CC4-AA57-DA7B-A9589FF6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12" y="2133335"/>
            <a:ext cx="309157" cy="310896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0D3686B6-BE68-EC58-511C-C3E0529C9614}"/>
              </a:ext>
            </a:extLst>
          </p:cNvPr>
          <p:cNvSpPr/>
          <p:nvPr/>
        </p:nvSpPr>
        <p:spPr>
          <a:xfrm>
            <a:off x="6799112" y="1913879"/>
            <a:ext cx="468281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vi-VN" sz="1150" noProof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Kiểm tra quyền sở hữu thiết bị ở mọi API request (ownership check)</a:t>
            </a:r>
            <a:endParaRPr lang="vi-VN" sz="1150" noProof="1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43BC76D6-FFDD-E1DE-0077-5C974DEBD3CC}"/>
              </a:ext>
            </a:extLst>
          </p:cNvPr>
          <p:cNvSpPr/>
          <p:nvPr/>
        </p:nvSpPr>
        <p:spPr>
          <a:xfrm>
            <a:off x="581192" y="2846567"/>
            <a:ext cx="11029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C4594D3-754C-AA3B-F057-A591584998E5}"/>
              </a:ext>
            </a:extLst>
          </p:cNvPr>
          <p:cNvSpPr/>
          <p:nvPr/>
        </p:nvSpPr>
        <p:spPr>
          <a:xfrm>
            <a:off x="764072" y="3020303"/>
            <a:ext cx="54557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23" name="Image 2" descr="icons/chip_white.png">
            <a:extLst>
              <a:ext uri="{FF2B5EF4-FFF2-40B4-BE49-F238E27FC236}">
                <a16:creationId xmlns:a16="http://schemas.microsoft.com/office/drawing/2014/main" id="{B8E9DA11-C0AA-F022-03D6-0672D4198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46" y="3151977"/>
            <a:ext cx="283697" cy="285293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68E19563-38F4-AB5E-4A77-EDE31A2868BE}"/>
              </a:ext>
            </a:extLst>
          </p:cNvPr>
          <p:cNvSpPr/>
          <p:nvPr/>
        </p:nvSpPr>
        <p:spPr>
          <a:xfrm>
            <a:off x="1495592" y="2919719"/>
            <a:ext cx="44554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vi-VN" sz="125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Credential hard-code trong firmware (FIND-001)</a:t>
            </a:r>
            <a:endParaRPr lang="vi-VN" sz="1250" noProof="1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DC49BEA1-BB6F-B97E-51F6-DE25A42B6375}"/>
              </a:ext>
            </a:extLst>
          </p:cNvPr>
          <p:cNvSpPr/>
          <p:nvPr/>
        </p:nvSpPr>
        <p:spPr>
          <a:xfrm>
            <a:off x="6113312" y="2983727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pic>
        <p:nvPicPr>
          <p:cNvPr id="29" name="Image 3" descr="icons/check_teal.png">
            <a:extLst>
              <a:ext uri="{FF2B5EF4-FFF2-40B4-BE49-F238E27FC236}">
                <a16:creationId xmlns:a16="http://schemas.microsoft.com/office/drawing/2014/main" id="{DCDE4B69-0C48-E002-E158-38FD0D5DE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12" y="3139175"/>
            <a:ext cx="309157" cy="310896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7EF73FDF-D99F-B550-8879-16CD105BC0CB}"/>
              </a:ext>
            </a:extLst>
          </p:cNvPr>
          <p:cNvSpPr/>
          <p:nvPr/>
        </p:nvSpPr>
        <p:spPr>
          <a:xfrm>
            <a:off x="6799112" y="2919719"/>
            <a:ext cx="468281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vi-VN" sz="1150" noProof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Cấp key riêng từng thiết bị (unique per-device key) khi sản xuất</a:t>
            </a:r>
            <a:endParaRPr lang="vi-VN" sz="1150" noProof="1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494B350C-20A4-81F1-A547-2C756EE4B779}"/>
              </a:ext>
            </a:extLst>
          </p:cNvPr>
          <p:cNvSpPr/>
          <p:nvPr/>
        </p:nvSpPr>
        <p:spPr>
          <a:xfrm>
            <a:off x="581192" y="3852407"/>
            <a:ext cx="11029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A0885FC7-9381-134A-E6B6-58D595B19DC1}"/>
              </a:ext>
            </a:extLst>
          </p:cNvPr>
          <p:cNvSpPr/>
          <p:nvPr/>
        </p:nvSpPr>
        <p:spPr>
          <a:xfrm>
            <a:off x="764072" y="4026143"/>
            <a:ext cx="54557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37" name="Image 4" descr="icons/network_white.png">
            <a:extLst>
              <a:ext uri="{FF2B5EF4-FFF2-40B4-BE49-F238E27FC236}">
                <a16:creationId xmlns:a16="http://schemas.microsoft.com/office/drawing/2014/main" id="{DA1BED25-7BBE-07B9-F8D1-C8AEF9BDA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46" y="4157817"/>
            <a:ext cx="283697" cy="285293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1C5D46F2-969E-9873-8B92-55CF8D779943}"/>
              </a:ext>
            </a:extLst>
          </p:cNvPr>
          <p:cNvSpPr/>
          <p:nvPr/>
        </p:nvSpPr>
        <p:spPr>
          <a:xfrm>
            <a:off x="1495592" y="3925559"/>
            <a:ext cx="44554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vi-VN" sz="125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Luồng video không mã hóa (FIND-002)</a:t>
            </a:r>
            <a:endParaRPr lang="vi-VN" sz="1250" noProof="1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0C339A59-5366-5184-2407-50D973EDC72A}"/>
              </a:ext>
            </a:extLst>
          </p:cNvPr>
          <p:cNvSpPr/>
          <p:nvPr/>
        </p:nvSpPr>
        <p:spPr>
          <a:xfrm>
            <a:off x="6113312" y="3989567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pic>
        <p:nvPicPr>
          <p:cNvPr id="43" name="Image 5" descr="icons/check_teal.png">
            <a:extLst>
              <a:ext uri="{FF2B5EF4-FFF2-40B4-BE49-F238E27FC236}">
                <a16:creationId xmlns:a16="http://schemas.microsoft.com/office/drawing/2014/main" id="{96B4D5B0-1704-8F65-3B73-8750C27A0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12" y="4145015"/>
            <a:ext cx="309157" cy="310896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2D5205BF-A709-FB73-B5CE-89C192993C01}"/>
              </a:ext>
            </a:extLst>
          </p:cNvPr>
          <p:cNvSpPr/>
          <p:nvPr/>
        </p:nvSpPr>
        <p:spPr>
          <a:xfrm>
            <a:off x="6799112" y="3925559"/>
            <a:ext cx="468281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vi-VN" sz="1150" noProof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Bắt buộc TLS/SRTP cho mọi luồng, kể cả trong mạng nội bộ</a:t>
            </a:r>
            <a:endParaRPr lang="vi-VN" sz="1150" noProof="1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7753DD40-53C5-D3FF-1124-9D3BA41077C7}"/>
              </a:ext>
            </a:extLst>
          </p:cNvPr>
          <p:cNvSpPr/>
          <p:nvPr/>
        </p:nvSpPr>
        <p:spPr>
          <a:xfrm>
            <a:off x="581192" y="4858247"/>
            <a:ext cx="11029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0E8956C5-2787-1568-F08B-3BEF30EC97C1}"/>
              </a:ext>
            </a:extLst>
          </p:cNvPr>
          <p:cNvSpPr/>
          <p:nvPr/>
        </p:nvSpPr>
        <p:spPr>
          <a:xfrm>
            <a:off x="764072" y="5031983"/>
            <a:ext cx="545570" cy="548640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51" name="Image 6" descr="icons/mobile_white.png">
            <a:extLst>
              <a:ext uri="{FF2B5EF4-FFF2-40B4-BE49-F238E27FC236}">
                <a16:creationId xmlns:a16="http://schemas.microsoft.com/office/drawing/2014/main" id="{84713E7A-9354-A301-E395-D840E5924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46" y="5163657"/>
            <a:ext cx="283697" cy="285293"/>
          </a:xfrm>
          <a:prstGeom prst="rect">
            <a:avLst/>
          </a:prstGeom>
        </p:spPr>
      </p:pic>
      <p:sp>
        <p:nvSpPr>
          <p:cNvPr id="53" name="Text 18">
            <a:extLst>
              <a:ext uri="{FF2B5EF4-FFF2-40B4-BE49-F238E27FC236}">
                <a16:creationId xmlns:a16="http://schemas.microsoft.com/office/drawing/2014/main" id="{90DBCCDB-4866-ABA5-C745-D858CB590393}"/>
              </a:ext>
            </a:extLst>
          </p:cNvPr>
          <p:cNvSpPr/>
          <p:nvPr/>
        </p:nvSpPr>
        <p:spPr>
          <a:xfrm>
            <a:off x="1495592" y="4931399"/>
            <a:ext cx="44554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vi-VN" sz="125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App bỏ qua lỗi certificate (FIND-004)</a:t>
            </a:r>
            <a:endParaRPr lang="vi-VN" sz="1250" noProof="1"/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C8F1AE8B-85AC-3717-2B85-E6334658F262}"/>
              </a:ext>
            </a:extLst>
          </p:cNvPr>
          <p:cNvSpPr/>
          <p:nvPr/>
        </p:nvSpPr>
        <p:spPr>
          <a:xfrm>
            <a:off x="6113312" y="4995407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pic>
        <p:nvPicPr>
          <p:cNvPr id="57" name="Image 7" descr="icons/check_teal.png">
            <a:extLst>
              <a:ext uri="{FF2B5EF4-FFF2-40B4-BE49-F238E27FC236}">
                <a16:creationId xmlns:a16="http://schemas.microsoft.com/office/drawing/2014/main" id="{BDB0ADAC-2082-FA78-92B4-DFBD91930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12" y="5150855"/>
            <a:ext cx="309157" cy="310896"/>
          </a:xfrm>
          <a:prstGeom prst="rect">
            <a:avLst/>
          </a:prstGeom>
        </p:spPr>
      </p:pic>
      <p:sp>
        <p:nvSpPr>
          <p:cNvPr id="59" name="Text 20">
            <a:extLst>
              <a:ext uri="{FF2B5EF4-FFF2-40B4-BE49-F238E27FC236}">
                <a16:creationId xmlns:a16="http://schemas.microsoft.com/office/drawing/2014/main" id="{6594890C-6CEA-079B-E292-604BF2D9795F}"/>
              </a:ext>
            </a:extLst>
          </p:cNvPr>
          <p:cNvSpPr/>
          <p:nvPr/>
        </p:nvSpPr>
        <p:spPr>
          <a:xfrm>
            <a:off x="6799112" y="4931399"/>
            <a:ext cx="468281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vi-VN" sz="1150" noProof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Bật</a:t>
            </a:r>
            <a:r>
              <a:rPr lang="vi-VN" sz="1150" noProof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150" noProof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certificate/public key pinning, từ chối kết nối khi cert không hợp lệ</a:t>
            </a:r>
            <a:endParaRPr lang="vi-VN" sz="1150" noProof="1"/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D933812E-DD0C-5F70-406E-27F7D21FF978}"/>
              </a:ext>
            </a:extLst>
          </p:cNvPr>
          <p:cNvSpPr/>
          <p:nvPr/>
        </p:nvSpPr>
        <p:spPr>
          <a:xfrm>
            <a:off x="581192" y="5864087"/>
            <a:ext cx="11029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 noProof="1"/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63B62408-7742-0174-486D-E5AA79DFC098}"/>
              </a:ext>
            </a:extLst>
          </p:cNvPr>
          <p:cNvSpPr/>
          <p:nvPr/>
        </p:nvSpPr>
        <p:spPr>
          <a:xfrm>
            <a:off x="764072" y="6037823"/>
            <a:ext cx="54557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vi-VN" noProof="1"/>
          </a:p>
        </p:txBody>
      </p:sp>
      <p:pic>
        <p:nvPicPr>
          <p:cNvPr id="65" name="Image 8" descr="icons/sync_white.png">
            <a:extLst>
              <a:ext uri="{FF2B5EF4-FFF2-40B4-BE49-F238E27FC236}">
                <a16:creationId xmlns:a16="http://schemas.microsoft.com/office/drawing/2014/main" id="{F21FA1F6-78ED-5C89-8F95-B219C69D8C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746" y="6169497"/>
            <a:ext cx="283697" cy="285293"/>
          </a:xfrm>
          <a:prstGeom prst="rect">
            <a:avLst/>
          </a:prstGeom>
        </p:spPr>
      </p:pic>
      <p:sp>
        <p:nvSpPr>
          <p:cNvPr id="67" name="Text 23">
            <a:extLst>
              <a:ext uri="{FF2B5EF4-FFF2-40B4-BE49-F238E27FC236}">
                <a16:creationId xmlns:a16="http://schemas.microsoft.com/office/drawing/2014/main" id="{618D14C7-7876-0206-3B2C-C5BF453A9B4D}"/>
              </a:ext>
            </a:extLst>
          </p:cNvPr>
          <p:cNvSpPr/>
          <p:nvPr/>
        </p:nvSpPr>
        <p:spPr>
          <a:xfrm>
            <a:off x="1495592" y="5937239"/>
            <a:ext cx="44554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vi-VN" sz="1250" b="1" noProof="1">
                <a:solidFill>
                  <a:srgbClr val="0B2545"/>
                </a:solidFill>
                <a:ea typeface="Calibri" pitchFamily="34" charset="-122"/>
                <a:cs typeface="Calibri" pitchFamily="34" charset="-120"/>
              </a:rPr>
              <a:t>OTA không ký số (FIND-005)</a:t>
            </a:r>
            <a:endParaRPr lang="vi-VN" sz="1250" noProof="1"/>
          </a:p>
        </p:txBody>
      </p:sp>
      <p:sp>
        <p:nvSpPr>
          <p:cNvPr id="69" name="Shape 24">
            <a:extLst>
              <a:ext uri="{FF2B5EF4-FFF2-40B4-BE49-F238E27FC236}">
                <a16:creationId xmlns:a16="http://schemas.microsoft.com/office/drawing/2014/main" id="{8F110A16-B06F-A07C-4E53-8E8F9FDF3EE2}"/>
              </a:ext>
            </a:extLst>
          </p:cNvPr>
          <p:cNvSpPr/>
          <p:nvPr/>
        </p:nvSpPr>
        <p:spPr>
          <a:xfrm>
            <a:off x="6113312" y="6001247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pic>
        <p:nvPicPr>
          <p:cNvPr id="71" name="Image 9" descr="icons/check_teal.png">
            <a:extLst>
              <a:ext uri="{FF2B5EF4-FFF2-40B4-BE49-F238E27FC236}">
                <a16:creationId xmlns:a16="http://schemas.microsoft.com/office/drawing/2014/main" id="{A86B3225-24BD-6ED8-0E1C-7D993CE0C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12" y="6156695"/>
            <a:ext cx="309157" cy="310896"/>
          </a:xfrm>
          <a:prstGeom prst="rect">
            <a:avLst/>
          </a:prstGeom>
        </p:spPr>
      </p:pic>
      <p:sp>
        <p:nvSpPr>
          <p:cNvPr id="73" name="Text 25">
            <a:extLst>
              <a:ext uri="{FF2B5EF4-FFF2-40B4-BE49-F238E27FC236}">
                <a16:creationId xmlns:a16="http://schemas.microsoft.com/office/drawing/2014/main" id="{C7F210AF-FCC9-D1D0-324F-FB0F5694C2EE}"/>
              </a:ext>
            </a:extLst>
          </p:cNvPr>
          <p:cNvSpPr/>
          <p:nvPr/>
        </p:nvSpPr>
        <p:spPr>
          <a:xfrm>
            <a:off x="6799112" y="5937239"/>
            <a:ext cx="468281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vi-VN" sz="1150" noProof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Ký số firmware bằng private key của hãng + cơ chế rollback an toàn</a:t>
            </a:r>
            <a:endParaRPr lang="vi-VN" sz="1150" noProof="1"/>
          </a:p>
        </p:txBody>
      </p:sp>
    </p:spTree>
    <p:extLst>
      <p:ext uri="{BB962C8B-B14F-4D97-AF65-F5344CB8AC3E}">
        <p14:creationId xmlns:p14="http://schemas.microsoft.com/office/powerpoint/2010/main" val="63142181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{D1876BDD-1DD1-4A42-BC76-59651A0420F6}TF319cfb39-eeba-4af5-a5a2-03d53d0375163cfc7ea3-fe05cac7ecf7</Template>
  <TotalTime>1943</TotalTime>
  <Words>885</Words>
  <Application>Microsoft Office PowerPoint</Application>
  <PresentationFormat>Widescreen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Gill Sans MT</vt:lpstr>
      <vt:lpstr>Wingdings 2</vt:lpstr>
      <vt:lpstr>Dividend</vt:lpstr>
      <vt:lpstr>QUY TRÌNH KIỂM THỬ BẢO MẬT CHO MỘT SẢN PHẨM Iot</vt:lpstr>
      <vt:lpstr>VẤN ĐỀ BẢO MẬT &amp; MỤC TIÊU</vt:lpstr>
      <vt:lpstr>Nguồn github &amp; kiến thức nền</vt:lpstr>
      <vt:lpstr>Mô hình hệ thống &amp; quy trình thực hiện</vt:lpstr>
      <vt:lpstr>Kết quả chính (1/2): checklist kiểm thử</vt:lpstr>
      <vt:lpstr>Kết quả chính (2/2): finding &amp; ma trận rủi ro</vt:lpstr>
      <vt:lpstr>Đánh giá, hạn chế &amp; hướng phát triển</vt:lpstr>
      <vt:lpstr>Phân tích rủi ro &amp; biện pháp phòng chống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Chu</dc:creator>
  <cp:lastModifiedBy>Tuấn Chu</cp:lastModifiedBy>
  <cp:revision>1</cp:revision>
  <dcterms:created xsi:type="dcterms:W3CDTF">2026-07-06T07:27:47Z</dcterms:created>
  <dcterms:modified xsi:type="dcterms:W3CDTF">2026-07-07T15:51:18Z</dcterms:modified>
</cp:coreProperties>
</file>